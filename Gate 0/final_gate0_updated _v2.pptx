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43">
          <p15:clr>
            <a:srgbClr val="A4A3A4"/>
          </p15:clr>
        </p15:guide>
        <p15:guide id="2" pos="2880">
          <p15:clr>
            <a:srgbClr val="A4A3A4"/>
          </p15:clr>
        </p15:guide>
      </p15:sldGuideLst>
    </p:ext>
    <p:ext uri="GoogleSlidesCustomDataVersion2">
      <go:slidesCustomData xmlns:go="http://customooxmlschemas.google.com/" r:id="rId21" roundtripDataSignature="AMtx7mgtJROWdLFVSe+An84IbkpczPwB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9F6BFC-29A7-427A-87EB-03B7EDF5AA24}">
  <a:tblStyle styleId="{CF9F6BFC-29A7-427A-87EB-03B7EDF5AA24}"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Calibri"/>
          <a:ea typeface="Calibri"/>
          <a:cs typeface="Calibri"/>
        </a:font>
        <a:schemeClr val="lt1"/>
      </a:tcTxStyle>
      <a:tcStyle>
        <a:fill>
          <a:solidFill>
            <a:schemeClr val="accent2"/>
          </a:solidFill>
        </a:fill>
      </a:tcStyle>
    </a:lastCol>
    <a:firstCol>
      <a:tcTxStyle b="on" i="off">
        <a:font>
          <a:latin typeface="Calibri"/>
          <a:ea typeface="Calibri"/>
          <a:cs typeface="Calibri"/>
        </a:font>
        <a:schemeClr val="lt1"/>
      </a:tcTxStyle>
      <a:tcStyle>
        <a:fill>
          <a:solidFill>
            <a:schemeClr val="accent2"/>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Calibri"/>
          <a:ea typeface="Calibri"/>
          <a:cs typeface="Calibri"/>
        </a:font>
        <a:schemeClr val="dk1"/>
      </a:tcTxStyle>
    </a:seCell>
    <a:swCell>
      <a:tcTxStyle b="on" i="off">
        <a:font>
          <a:latin typeface="Calibri"/>
          <a:ea typeface="Calibri"/>
          <a:cs typeface="Calibri"/>
        </a:font>
        <a:schemeClr val="dk1"/>
      </a:tcTxStyle>
    </a:swCell>
    <a:firstRow>
      <a:tcTxStyle b="on" i="off">
        <a:font>
          <a:latin typeface="Calibri"/>
          <a:ea typeface="Calibri"/>
          <a:cs typeface="Calibri"/>
        </a:font>
        <a:schemeClr val="lt1"/>
      </a:tcTxStyle>
      <a:tcStyle>
        <a:tcBdr>
          <a:bottom>
            <a:ln cap="flat" cmpd="sng" w="25400">
              <a:solidFill>
                <a:schemeClr val="dk1"/>
              </a:solidFill>
              <a:prstDash val="solid"/>
              <a:round/>
              <a:headEnd len="sm" w="sm" type="none"/>
              <a:tailEnd len="sm" w="sm" type="none"/>
            </a:ln>
          </a:bottom>
        </a:tcBdr>
        <a:fill>
          <a:solidFill>
            <a:schemeClr val="accent2"/>
          </a:solidFill>
        </a:fill>
      </a:tcStyle>
    </a:firstRow>
    <a:neCell>
      <a:tcTxStyle/>
    </a:neCell>
    <a:nwCell>
      <a:tcTxStyle/>
    </a:nwCell>
  </a:tblStyle>
  <a:tblStyle styleId="{357E4A72-1A30-4132-B10C-302D43076DB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43"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16"/>
          <p:cNvSpPr txBox="1"/>
          <p:nvPr>
            <p:ph type="title"/>
          </p:nvPr>
        </p:nvSpPr>
        <p:spPr>
          <a:xfrm>
            <a:off x="720000" y="1982625"/>
            <a:ext cx="3702900" cy="8418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dk1"/>
              </a:buClr>
              <a:buSzPts val="3600"/>
              <a:buFont typeface="Calibri"/>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16"/>
          <p:cNvSpPr txBox="1"/>
          <p:nvPr>
            <p:ph idx="2" type="title"/>
          </p:nvPr>
        </p:nvSpPr>
        <p:spPr>
          <a:xfrm>
            <a:off x="720000" y="1013275"/>
            <a:ext cx="1109400" cy="10380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6000"/>
              <a:buFont typeface="Calibri"/>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4" name="Google Shape;14;p16"/>
          <p:cNvSpPr txBox="1"/>
          <p:nvPr>
            <p:ph idx="1" type="subTitle"/>
          </p:nvPr>
        </p:nvSpPr>
        <p:spPr>
          <a:xfrm>
            <a:off x="720000" y="2735350"/>
            <a:ext cx="2436300" cy="64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400"/>
              <a:buNone/>
              <a:defRPr/>
            </a:lvl2pPr>
            <a:lvl3pPr lvl="2" algn="ctr">
              <a:lnSpc>
                <a:spcPct val="100000"/>
              </a:lnSpc>
              <a:spcBef>
                <a:spcPts val="1600"/>
              </a:spcBef>
              <a:spcAft>
                <a:spcPts val="0"/>
              </a:spcAft>
              <a:buClr>
                <a:schemeClr val="dk1"/>
              </a:buClr>
              <a:buSzPts val="1400"/>
              <a:buNone/>
              <a:defRPr/>
            </a:lvl3pPr>
            <a:lvl4pPr lvl="3" algn="ctr">
              <a:lnSpc>
                <a:spcPct val="100000"/>
              </a:lnSpc>
              <a:spcBef>
                <a:spcPts val="1600"/>
              </a:spcBef>
              <a:spcAft>
                <a:spcPts val="0"/>
              </a:spcAft>
              <a:buClr>
                <a:schemeClr val="dk1"/>
              </a:buClr>
              <a:buSzPts val="1400"/>
              <a:buNone/>
              <a:defRPr/>
            </a:lvl4pPr>
            <a:lvl5pPr lvl="4" algn="ctr">
              <a:lnSpc>
                <a:spcPct val="100000"/>
              </a:lnSpc>
              <a:spcBef>
                <a:spcPts val="1600"/>
              </a:spcBef>
              <a:spcAft>
                <a:spcPts val="0"/>
              </a:spcAft>
              <a:buClr>
                <a:schemeClr val="dk1"/>
              </a:buClr>
              <a:buSzPts val="1400"/>
              <a:buNone/>
              <a:defRPr/>
            </a:lvl5pPr>
            <a:lvl6pPr lvl="5" algn="ctr">
              <a:lnSpc>
                <a:spcPct val="100000"/>
              </a:lnSpc>
              <a:spcBef>
                <a:spcPts val="1600"/>
              </a:spcBef>
              <a:spcAft>
                <a:spcPts val="0"/>
              </a:spcAft>
              <a:buClr>
                <a:schemeClr val="dk1"/>
              </a:buClr>
              <a:buSzPts val="1400"/>
              <a:buNone/>
              <a:defRPr/>
            </a:lvl6pPr>
            <a:lvl7pPr lvl="6" algn="ctr">
              <a:lnSpc>
                <a:spcPct val="100000"/>
              </a:lnSpc>
              <a:spcBef>
                <a:spcPts val="1600"/>
              </a:spcBef>
              <a:spcAft>
                <a:spcPts val="0"/>
              </a:spcAft>
              <a:buClr>
                <a:schemeClr val="dk1"/>
              </a:buClr>
              <a:buSzPts val="1400"/>
              <a:buNone/>
              <a:defRPr/>
            </a:lvl7pPr>
            <a:lvl8pPr lvl="7" algn="ctr">
              <a:lnSpc>
                <a:spcPct val="100000"/>
              </a:lnSpc>
              <a:spcBef>
                <a:spcPts val="1600"/>
              </a:spcBef>
              <a:spcAft>
                <a:spcPts val="0"/>
              </a:spcAft>
              <a:buClr>
                <a:schemeClr val="dk1"/>
              </a:buClr>
              <a:buSzPts val="1400"/>
              <a:buNone/>
              <a:defRPr/>
            </a:lvl8pPr>
            <a:lvl9pPr lvl="8" algn="ctr">
              <a:lnSpc>
                <a:spcPct val="100000"/>
              </a:lnSpc>
              <a:spcBef>
                <a:spcPts val="1600"/>
              </a:spcBef>
              <a:spcAft>
                <a:spcPts val="1600"/>
              </a:spcAft>
              <a:buClr>
                <a:schemeClr val="dk1"/>
              </a:buClr>
              <a:buSzPts val="1400"/>
              <a:buNone/>
              <a:defRPr/>
            </a:lvl9pPr>
          </a:lstStyle>
          <a:p/>
        </p:txBody>
      </p:sp>
      <p:sp>
        <p:nvSpPr>
          <p:cNvPr id="15" name="Google Shape;15;p16"/>
          <p:cNvSpPr/>
          <p:nvPr>
            <p:ph idx="3" type="pic"/>
          </p:nvPr>
        </p:nvSpPr>
        <p:spPr>
          <a:xfrm>
            <a:off x="5071600" y="971025"/>
            <a:ext cx="3201600" cy="3201600"/>
          </a:xfrm>
          <a:prstGeom prst="ellipse">
            <a:avLst/>
          </a:prstGeom>
          <a:noFill/>
          <a:ln>
            <a:noFill/>
          </a:ln>
          <a:effectLst>
            <a:outerShdw blurRad="28575" rotWithShape="0" algn="bl" dir="660000" dist="57150">
              <a:srgbClr val="000000">
                <a:alpha val="30196"/>
              </a:srgbClr>
            </a:outerShdw>
          </a:effectLst>
        </p:spPr>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dk1"/>
              </a:buClr>
              <a:buSzPts val="3300"/>
              <a:buFont typeface="Calibri"/>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 name="Google Shape;18;p17"/>
          <p:cNvSpPr txBox="1"/>
          <p:nvPr>
            <p:ph idx="1" type="body"/>
          </p:nvPr>
        </p:nvSpPr>
        <p:spPr>
          <a:xfrm>
            <a:off x="720000" y="1215751"/>
            <a:ext cx="7704000" cy="3678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dk1"/>
              </a:buClr>
              <a:buSzPts val="1400"/>
              <a:buFont typeface="Nunito Light"/>
              <a:buChar char="●"/>
              <a:defRPr sz="1200"/>
            </a:lvl1pPr>
            <a:lvl2pPr indent="-317500" lvl="1" marL="914400" algn="l">
              <a:lnSpc>
                <a:spcPct val="100000"/>
              </a:lnSpc>
              <a:spcBef>
                <a:spcPts val="0"/>
              </a:spcBef>
              <a:spcAft>
                <a:spcPts val="0"/>
              </a:spcAft>
              <a:buClr>
                <a:schemeClr val="dk1"/>
              </a:buClr>
              <a:buSzPts val="1400"/>
              <a:buFont typeface="Nunito Light"/>
              <a:buChar char="○"/>
              <a:defRPr/>
            </a:lvl2pPr>
            <a:lvl3pPr indent="-317500" lvl="2" marL="1371600" algn="l">
              <a:lnSpc>
                <a:spcPct val="100000"/>
              </a:lnSpc>
              <a:spcBef>
                <a:spcPts val="0"/>
              </a:spcBef>
              <a:spcAft>
                <a:spcPts val="0"/>
              </a:spcAft>
              <a:buClr>
                <a:schemeClr val="dk1"/>
              </a:buClr>
              <a:buSzPts val="1400"/>
              <a:buFont typeface="Nunito Light"/>
              <a:buChar char="■"/>
              <a:defRPr/>
            </a:lvl3pPr>
            <a:lvl4pPr indent="-317500" lvl="3" marL="1828800" algn="l">
              <a:lnSpc>
                <a:spcPct val="100000"/>
              </a:lnSpc>
              <a:spcBef>
                <a:spcPts val="0"/>
              </a:spcBef>
              <a:spcAft>
                <a:spcPts val="0"/>
              </a:spcAft>
              <a:buClr>
                <a:schemeClr val="dk1"/>
              </a:buClr>
              <a:buSzPts val="1400"/>
              <a:buFont typeface="Nunito Light"/>
              <a:buChar char="●"/>
              <a:defRPr/>
            </a:lvl4pPr>
            <a:lvl5pPr indent="-317500" lvl="4" marL="2286000" algn="l">
              <a:lnSpc>
                <a:spcPct val="100000"/>
              </a:lnSpc>
              <a:spcBef>
                <a:spcPts val="0"/>
              </a:spcBef>
              <a:spcAft>
                <a:spcPts val="0"/>
              </a:spcAft>
              <a:buClr>
                <a:schemeClr val="dk1"/>
              </a:buClr>
              <a:buSzPts val="1400"/>
              <a:buFont typeface="Nunito Light"/>
              <a:buChar char="○"/>
              <a:defRPr/>
            </a:lvl5pPr>
            <a:lvl6pPr indent="-317500" lvl="5" marL="2743200" algn="l">
              <a:lnSpc>
                <a:spcPct val="100000"/>
              </a:lnSpc>
              <a:spcBef>
                <a:spcPts val="0"/>
              </a:spcBef>
              <a:spcAft>
                <a:spcPts val="0"/>
              </a:spcAft>
              <a:buClr>
                <a:schemeClr val="dk1"/>
              </a:buClr>
              <a:buSzPts val="1400"/>
              <a:buFont typeface="Nunito Light"/>
              <a:buChar char="■"/>
              <a:defRPr/>
            </a:lvl6pPr>
            <a:lvl7pPr indent="-317500" lvl="6" marL="3200400" algn="l">
              <a:lnSpc>
                <a:spcPct val="100000"/>
              </a:lnSpc>
              <a:spcBef>
                <a:spcPts val="0"/>
              </a:spcBef>
              <a:spcAft>
                <a:spcPts val="0"/>
              </a:spcAft>
              <a:buClr>
                <a:schemeClr val="dk1"/>
              </a:buClr>
              <a:buSzPts val="1400"/>
              <a:buFont typeface="Nunito Light"/>
              <a:buChar char="●"/>
              <a:defRPr/>
            </a:lvl7pPr>
            <a:lvl8pPr indent="-317500" lvl="7" marL="3657600" algn="l">
              <a:lnSpc>
                <a:spcPct val="100000"/>
              </a:lnSpc>
              <a:spcBef>
                <a:spcPts val="0"/>
              </a:spcBef>
              <a:spcAft>
                <a:spcPts val="0"/>
              </a:spcAft>
              <a:buClr>
                <a:schemeClr val="dk1"/>
              </a:buClr>
              <a:buSzPts val="1400"/>
              <a:buFont typeface="Nunito Light"/>
              <a:buChar char="○"/>
              <a:defRPr/>
            </a:lvl8pPr>
            <a:lvl9pPr indent="-317500" lvl="8" marL="4114800" algn="l">
              <a:lnSpc>
                <a:spcPct val="100000"/>
              </a:lnSpc>
              <a:spcBef>
                <a:spcPts val="0"/>
              </a:spcBef>
              <a:spcAft>
                <a:spcPts val="0"/>
              </a:spcAft>
              <a:buClr>
                <a:schemeClr val="dk1"/>
              </a:buClr>
              <a:buSzPts val="1400"/>
              <a:buFont typeface="Nunito Light"/>
              <a:buChar char="■"/>
              <a:defRPr/>
            </a:lvl9pPr>
          </a:lstStyle>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18"/>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1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20"/>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0"/>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31" name="Google Shape;31;p2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21"/>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1"/>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2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0" name="Shape 40"/>
        <p:cNvGrpSpPr/>
        <p:nvPr/>
      </p:nvGrpSpPr>
      <p:grpSpPr>
        <a:xfrm>
          <a:off x="0" y="0"/>
          <a:ext cx="0" cy="0"/>
          <a:chOff x="0" y="0"/>
          <a:chExt cx="0" cy="0"/>
        </a:xfrm>
      </p:grpSpPr>
      <p:sp>
        <p:nvSpPr>
          <p:cNvPr id="41" name="Google Shape;41;p22"/>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3" name="Google Shape;43;p2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23"/>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3"/>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9" name="Google Shape;49;p23"/>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2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24"/>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4"/>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6" name="Google Shape;56;p24"/>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7" name="Google Shape;57;p24"/>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8" name="Google Shape;58;p24"/>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9" name="Google Shape;59;p2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25"/>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5"/>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5" name="Google Shape;65;p25"/>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6" name="Google Shape;66;p2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26"/>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26"/>
          <p:cNvSpPr/>
          <p:nvPr>
            <p:ph idx="2" type="pic"/>
          </p:nvPr>
        </p:nvSpPr>
        <p:spPr>
          <a:xfrm>
            <a:off x="3887391" y="740569"/>
            <a:ext cx="4629150" cy="3655219"/>
          </a:xfrm>
          <a:prstGeom prst="rect">
            <a:avLst/>
          </a:prstGeom>
          <a:noFill/>
          <a:ln>
            <a:noFill/>
          </a:ln>
        </p:spPr>
      </p:sp>
      <p:sp>
        <p:nvSpPr>
          <p:cNvPr id="72" name="Google Shape;72;p26"/>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3" name="Google Shape;73;p2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27"/>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7"/>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9" name="Google Shape;79;p2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28"/>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8"/>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5" name="Google Shape;85;p2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1">
    <p:spTree>
      <p:nvGrpSpPr>
        <p:cNvPr id="88" name="Shape 88"/>
        <p:cNvGrpSpPr/>
        <p:nvPr/>
      </p:nvGrpSpPr>
      <p:grpSpPr>
        <a:xfrm>
          <a:off x="0" y="0"/>
          <a:ext cx="0" cy="0"/>
          <a:chOff x="0" y="0"/>
          <a:chExt cx="0" cy="0"/>
        </a:xfrm>
      </p:grpSpPr>
      <p:sp>
        <p:nvSpPr>
          <p:cNvPr id="89" name="Google Shape;89;p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dk1"/>
              </a:buClr>
              <a:buSzPts val="3300"/>
              <a:buFont typeface="Calibri"/>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nvSpPr>
        <p:spPr>
          <a:xfrm>
            <a:off x="1164124" y="1406415"/>
            <a:ext cx="6791155" cy="892647"/>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Kumbh Sans"/>
              <a:buNone/>
            </a:pPr>
            <a:r>
              <a:rPr b="1" i="0" lang="en-IN" sz="2800" u="none" cap="none" strike="noStrike">
                <a:solidFill>
                  <a:schemeClr val="dk1"/>
                </a:solidFill>
                <a:latin typeface="Times New Roman"/>
                <a:ea typeface="Times New Roman"/>
                <a:cs typeface="Times New Roman"/>
                <a:sym typeface="Times New Roman"/>
              </a:rPr>
              <a:t>Adaptive Video Streaming &amp; Buffer Management Engine</a:t>
            </a:r>
            <a:endParaRPr b="1" i="0" sz="3600" u="none" cap="none" strike="noStrike">
              <a:solidFill>
                <a:srgbClr val="3E1C94"/>
              </a:solidFill>
              <a:latin typeface="Times New Roman"/>
              <a:ea typeface="Times New Roman"/>
              <a:cs typeface="Times New Roman"/>
              <a:sym typeface="Times New Roman"/>
            </a:endParaRPr>
          </a:p>
        </p:txBody>
      </p:sp>
      <p:sp>
        <p:nvSpPr>
          <p:cNvPr id="95" name="Google Shape;95;p1"/>
          <p:cNvSpPr txBox="1"/>
          <p:nvPr>
            <p:ph idx="1" type="subTitle"/>
          </p:nvPr>
        </p:nvSpPr>
        <p:spPr>
          <a:xfrm>
            <a:off x="2022458" y="4689775"/>
            <a:ext cx="6655126" cy="7108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171616"/>
              </a:buClr>
              <a:buSzPts val="1400"/>
              <a:buNone/>
            </a:pPr>
            <a:r>
              <a:rPr b="1" lang="en-IN">
                <a:solidFill>
                  <a:srgbClr val="171616"/>
                </a:solidFill>
                <a:latin typeface="Times New Roman"/>
                <a:ea typeface="Times New Roman"/>
                <a:cs typeface="Times New Roman"/>
                <a:sym typeface="Times New Roman"/>
              </a:rPr>
              <a:t>Guide: </a:t>
            </a:r>
            <a:r>
              <a:rPr lang="en-IN" sz="1800">
                <a:solidFill>
                  <a:srgbClr val="171616"/>
                </a:solidFill>
                <a:latin typeface="Times New Roman"/>
                <a:ea typeface="Times New Roman"/>
                <a:cs typeface="Times New Roman"/>
                <a:sym typeface="Times New Roman"/>
              </a:rPr>
              <a:t>Amit Kachavimath </a:t>
            </a:r>
            <a:r>
              <a:rPr lang="en-IN">
                <a:solidFill>
                  <a:srgbClr val="171616"/>
                </a:solidFill>
                <a:latin typeface="Times New Roman"/>
                <a:ea typeface="Times New Roman"/>
                <a:cs typeface="Times New Roman"/>
                <a:sym typeface="Times New Roman"/>
              </a:rPr>
              <a:t>, Department of CSE-AI</a:t>
            </a:r>
            <a:endParaRPr/>
          </a:p>
          <a:p>
            <a:pPr indent="0" lvl="0" marL="0" rtl="0" algn="l">
              <a:lnSpc>
                <a:spcPct val="100000"/>
              </a:lnSpc>
              <a:spcBef>
                <a:spcPts val="0"/>
              </a:spcBef>
              <a:spcAft>
                <a:spcPts val="0"/>
              </a:spcAft>
              <a:buClr>
                <a:srgbClr val="171616"/>
              </a:buClr>
              <a:buSzPts val="1400"/>
              <a:buNone/>
            </a:pPr>
            <a:r>
              <a:rPr lang="en-IN">
                <a:solidFill>
                  <a:srgbClr val="171616"/>
                </a:solidFill>
                <a:latin typeface="Times New Roman"/>
                <a:ea typeface="Times New Roman"/>
                <a:cs typeface="Times New Roman"/>
                <a:sym typeface="Times New Roman"/>
              </a:rPr>
              <a:t>                                 </a:t>
            </a:r>
            <a:endParaRPr/>
          </a:p>
        </p:txBody>
      </p:sp>
      <p:sp>
        <p:nvSpPr>
          <p:cNvPr id="96" name="Google Shape;96;p1"/>
          <p:cNvSpPr txBox="1"/>
          <p:nvPr/>
        </p:nvSpPr>
        <p:spPr>
          <a:xfrm>
            <a:off x="1657450" y="613767"/>
            <a:ext cx="629783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000" u="none" cap="none" strike="noStrike">
                <a:solidFill>
                  <a:srgbClr val="C00000"/>
                </a:solidFill>
                <a:latin typeface="Times New Roman"/>
                <a:ea typeface="Times New Roman"/>
                <a:cs typeface="Times New Roman"/>
                <a:sym typeface="Times New Roman"/>
              </a:rPr>
              <a:t>Department of Computer Science and Engineering -AI</a:t>
            </a:r>
            <a:endParaRPr b="1" i="0" sz="2000" u="none" cap="none" strike="noStrike">
              <a:solidFill>
                <a:srgbClr val="C00000"/>
              </a:solidFill>
              <a:latin typeface="Times New Roman"/>
              <a:ea typeface="Times New Roman"/>
              <a:cs typeface="Times New Roman"/>
              <a:sym typeface="Times New Roman"/>
            </a:endParaRPr>
          </a:p>
        </p:txBody>
      </p:sp>
      <p:sp>
        <p:nvSpPr>
          <p:cNvPr id="97" name="Google Shape;97;p1"/>
          <p:cNvSpPr txBox="1"/>
          <p:nvPr/>
        </p:nvSpPr>
        <p:spPr>
          <a:xfrm>
            <a:off x="1418294" y="2424893"/>
            <a:ext cx="628281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000" u="none" cap="none" strike="noStrike">
                <a:solidFill>
                  <a:schemeClr val="dk1"/>
                </a:solidFill>
                <a:latin typeface="Times New Roman"/>
                <a:ea typeface="Times New Roman"/>
                <a:cs typeface="Times New Roman"/>
                <a:sym typeface="Times New Roman"/>
              </a:rPr>
              <a:t>TEAM NO:14</a:t>
            </a:r>
            <a:endParaRPr/>
          </a:p>
        </p:txBody>
      </p:sp>
      <p:graphicFrame>
        <p:nvGraphicFramePr>
          <p:cNvPr id="98" name="Google Shape;98;p1"/>
          <p:cNvGraphicFramePr/>
          <p:nvPr/>
        </p:nvGraphicFramePr>
        <p:xfrm>
          <a:off x="1860604" y="2878649"/>
          <a:ext cx="3000000" cy="3000000"/>
        </p:xfrm>
        <a:graphic>
          <a:graphicData uri="http://schemas.openxmlformats.org/drawingml/2006/table">
            <a:tbl>
              <a:tblPr bandRow="1" firstRow="1">
                <a:noFill/>
                <a:tableStyleId>{CF9F6BFC-29A7-427A-87EB-03B7EDF5AA24}</a:tableStyleId>
              </a:tblPr>
              <a:tblGrid>
                <a:gridCol w="635600"/>
                <a:gridCol w="2063500"/>
                <a:gridCol w="844550"/>
                <a:gridCol w="1854550"/>
              </a:tblGrid>
              <a:tr h="343100">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Sl.no</a:t>
                      </a:r>
                      <a:endParaRPr sz="1350" u="none" cap="none" strike="noStrike">
                        <a:latin typeface="Times New Roman"/>
                        <a:ea typeface="Times New Roman"/>
                        <a:cs typeface="Times New Roman"/>
                        <a:sym typeface="Times New Roman"/>
                      </a:endParaRPr>
                    </a:p>
                  </a:txBody>
                  <a:tcPr marT="45725" marB="45725" marR="91450" marL="91450">
                    <a:solidFill>
                      <a:schemeClr val="accent6"/>
                    </a:solidFill>
                  </a:tcPr>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Name</a:t>
                      </a:r>
                      <a:endParaRPr sz="1350" u="none" cap="none" strike="noStrike">
                        <a:latin typeface="Times New Roman"/>
                        <a:ea typeface="Times New Roman"/>
                        <a:cs typeface="Times New Roman"/>
                        <a:sym typeface="Times New Roman"/>
                      </a:endParaRPr>
                    </a:p>
                  </a:txBody>
                  <a:tcPr marT="45725" marB="45725" marR="91450" marL="91450">
                    <a:solidFill>
                      <a:schemeClr val="accent6"/>
                    </a:solidFill>
                  </a:tcPr>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Roll.no</a:t>
                      </a:r>
                      <a:endParaRPr sz="1350" u="none" cap="none" strike="noStrike">
                        <a:latin typeface="Times New Roman"/>
                        <a:ea typeface="Times New Roman"/>
                        <a:cs typeface="Times New Roman"/>
                        <a:sym typeface="Times New Roman"/>
                      </a:endParaRPr>
                    </a:p>
                  </a:txBody>
                  <a:tcPr marT="45725" marB="45725" marR="91450" marL="91450">
                    <a:solidFill>
                      <a:schemeClr val="accent6"/>
                    </a:solidFill>
                  </a:tcPr>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USN</a:t>
                      </a:r>
                      <a:endParaRPr sz="1350" u="none" cap="none" strike="noStrike">
                        <a:latin typeface="Times New Roman"/>
                        <a:ea typeface="Times New Roman"/>
                        <a:cs typeface="Times New Roman"/>
                        <a:sym typeface="Times New Roman"/>
                      </a:endParaRPr>
                    </a:p>
                  </a:txBody>
                  <a:tcPr marT="45725" marB="45725" marR="91450" marL="91450">
                    <a:solidFill>
                      <a:schemeClr val="accent6"/>
                    </a:solidFill>
                  </a:tcPr>
                </a:tc>
              </a:tr>
              <a:tr h="370725">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1.</a:t>
                      </a:r>
                      <a:endParaRPr sz="135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Divya Kumari</a:t>
                      </a:r>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222</a:t>
                      </a:r>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01FE24BCI094</a:t>
                      </a:r>
                      <a:endParaRPr sz="1350" u="none" cap="none" strike="noStrike">
                        <a:latin typeface="Times New Roman"/>
                        <a:ea typeface="Times New Roman"/>
                        <a:cs typeface="Times New Roman"/>
                        <a:sym typeface="Times New Roman"/>
                      </a:endParaRPr>
                    </a:p>
                  </a:txBody>
                  <a:tcPr marT="45725" marB="45725" marR="91450" marL="91450"/>
                </a:tc>
              </a:tr>
              <a:tr h="369625">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2.</a:t>
                      </a:r>
                      <a:endParaRPr sz="135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Akshay Bhat</a:t>
                      </a:r>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210</a:t>
                      </a:r>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01FE24BCI024</a:t>
                      </a:r>
                      <a:endParaRPr sz="1350" u="none" cap="none" strike="noStrike">
                        <a:latin typeface="Times New Roman"/>
                        <a:ea typeface="Times New Roman"/>
                        <a:cs typeface="Times New Roman"/>
                        <a:sym typeface="Times New Roman"/>
                      </a:endParaRPr>
                    </a:p>
                  </a:txBody>
                  <a:tcPr marT="45725" marB="45725" marR="91450" marL="91450"/>
                </a:tc>
              </a:tr>
              <a:tr h="369625">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3.</a:t>
                      </a:r>
                      <a:endParaRPr sz="135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Renuka Kagadal</a:t>
                      </a:r>
                      <a:endParaRPr sz="135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243</a:t>
                      </a:r>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01FE24BCI119</a:t>
                      </a:r>
                      <a:endParaRPr sz="1350" u="none" cap="none" strike="noStrike">
                        <a:latin typeface="Times New Roman"/>
                        <a:ea typeface="Times New Roman"/>
                        <a:cs typeface="Times New Roman"/>
                        <a:sym typeface="Times New Roman"/>
                      </a:endParaRPr>
                    </a:p>
                  </a:txBody>
                  <a:tcPr marT="45725" marB="45725" marR="91450" marL="91450"/>
                </a:tc>
              </a:tr>
              <a:tr h="373250">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4.</a:t>
                      </a:r>
                      <a:endParaRPr sz="135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B Bhagyashree</a:t>
                      </a:r>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231</a:t>
                      </a:r>
                      <a:endParaRPr/>
                    </a:p>
                  </a:txBody>
                  <a:tcPr marT="45725" marB="45725" marR="91450" marL="91450"/>
                </a:tc>
                <a:tc>
                  <a:txBody>
                    <a:bodyPr/>
                    <a:lstStyle/>
                    <a:p>
                      <a:pPr indent="0" lvl="0" marL="0" marR="0" rtl="0" algn="ctr">
                        <a:spcBef>
                          <a:spcPts val="0"/>
                        </a:spcBef>
                        <a:spcAft>
                          <a:spcPts val="0"/>
                        </a:spcAft>
                        <a:buNone/>
                      </a:pPr>
                      <a:r>
                        <a:rPr lang="en-IN" sz="1350" u="none" cap="none" strike="noStrike">
                          <a:latin typeface="Times New Roman"/>
                          <a:ea typeface="Times New Roman"/>
                          <a:cs typeface="Times New Roman"/>
                          <a:sym typeface="Times New Roman"/>
                        </a:rPr>
                        <a:t>01FE24BCI104</a:t>
                      </a:r>
                      <a:endParaRPr sz="1350" u="none" cap="none" strike="noStrike">
                        <a:latin typeface="Times New Roman"/>
                        <a:ea typeface="Times New Roman"/>
                        <a:cs typeface="Times New Roman"/>
                        <a:sym typeface="Times New Roman"/>
                      </a:endParaRPr>
                    </a:p>
                  </a:txBody>
                  <a:tcPr marT="45725" marB="45725" marR="91450" marL="91450"/>
                </a:tc>
              </a:tr>
            </a:tbl>
          </a:graphicData>
        </a:graphic>
      </p:graphicFrame>
      <p:pic>
        <p:nvPicPr>
          <p:cNvPr id="99" name="Google Shape;99;p1"/>
          <p:cNvPicPr preferRelativeResize="0"/>
          <p:nvPr/>
        </p:nvPicPr>
        <p:blipFill rotWithShape="1">
          <a:blip r:embed="rId3">
            <a:alphaModFix/>
          </a:blip>
          <a:srcRect b="0" l="0" r="0" t="0"/>
          <a:stretch/>
        </p:blipFill>
        <p:spPr>
          <a:xfrm>
            <a:off x="3254185" y="98312"/>
            <a:ext cx="2934742" cy="698103"/>
          </a:xfrm>
          <a:prstGeom prst="rect">
            <a:avLst/>
          </a:prstGeom>
          <a:noFill/>
          <a:ln>
            <a:noFill/>
          </a:ln>
        </p:spPr>
      </p:pic>
      <p:sp>
        <p:nvSpPr>
          <p:cNvPr id="100" name="Google Shape;100;p1"/>
          <p:cNvSpPr txBox="1"/>
          <p:nvPr/>
        </p:nvSpPr>
        <p:spPr>
          <a:xfrm>
            <a:off x="3340747" y="945965"/>
            <a:ext cx="401854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2400" u="none" cap="none" strike="noStrike">
                <a:solidFill>
                  <a:schemeClr val="dk1"/>
                </a:solidFill>
                <a:latin typeface="Times New Roman"/>
                <a:ea typeface="Times New Roman"/>
                <a:cs typeface="Times New Roman"/>
                <a:sym typeface="Times New Roman"/>
              </a:rPr>
              <a:t>THEME NO: 03</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type="title"/>
          </p:nvPr>
        </p:nvSpPr>
        <p:spPr>
          <a:xfrm>
            <a:off x="300735" y="2842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106" name="Google Shape;106;p2"/>
          <p:cNvCxnSpPr/>
          <p:nvPr/>
        </p:nvCxnSpPr>
        <p:spPr>
          <a:xfrm flipH="1" rot="10800000">
            <a:off x="193288" y="897527"/>
            <a:ext cx="8303941" cy="68912"/>
          </a:xfrm>
          <a:prstGeom prst="straightConnector1">
            <a:avLst/>
          </a:prstGeom>
          <a:noFill/>
          <a:ln cap="flat" cmpd="sng" w="12700">
            <a:solidFill>
              <a:schemeClr val="accent2"/>
            </a:solidFill>
            <a:prstDash val="solid"/>
            <a:miter lim="8000"/>
            <a:headEnd len="sm" w="sm" type="none"/>
            <a:tailEnd len="sm" w="sm" type="none"/>
          </a:ln>
        </p:spPr>
      </p:cxnSp>
      <p:pic>
        <p:nvPicPr>
          <p:cNvPr id="107" name="Google Shape;107;p2"/>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108" name="Google Shape;108;p2"/>
          <p:cNvSpPr txBox="1"/>
          <p:nvPr/>
        </p:nvSpPr>
        <p:spPr>
          <a:xfrm>
            <a:off x="300735" y="347208"/>
            <a:ext cx="63041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Times New Roman"/>
              <a:buNone/>
            </a:pPr>
            <a:r>
              <a:rPr b="1" lang="en-IN" sz="2800">
                <a:solidFill>
                  <a:schemeClr val="dk1"/>
                </a:solidFill>
                <a:latin typeface="Times New Roman"/>
                <a:ea typeface="Times New Roman"/>
                <a:cs typeface="Times New Roman"/>
                <a:sym typeface="Times New Roman"/>
              </a:rPr>
              <a:t>PROBLEM</a:t>
            </a:r>
            <a:endParaRPr/>
          </a:p>
        </p:txBody>
      </p:sp>
      <p:sp>
        <p:nvSpPr>
          <p:cNvPr id="109" name="Google Shape;109;p2"/>
          <p:cNvSpPr txBox="1"/>
          <p:nvPr/>
        </p:nvSpPr>
        <p:spPr>
          <a:xfrm>
            <a:off x="300735" y="1036215"/>
            <a:ext cx="4229192" cy="32932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600">
                <a:solidFill>
                  <a:schemeClr val="dk1"/>
                </a:solidFill>
                <a:latin typeface="Times New Roman"/>
                <a:ea typeface="Times New Roman"/>
                <a:cs typeface="Times New Roman"/>
                <a:sym typeface="Times New Roman"/>
              </a:rPr>
              <a:t>Current Situation &amp; Observation</a:t>
            </a:r>
            <a:endParaRPr/>
          </a:p>
          <a:p>
            <a:pPr indent="-184150" lvl="0" marL="285750" marR="0" rtl="0" algn="l">
              <a:spcBef>
                <a:spcPts val="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600"/>
              <a:buFont typeface="Arial"/>
              <a:buChar char="•"/>
            </a:pPr>
            <a:r>
              <a:rPr lang="en-IN" sz="1600">
                <a:solidFill>
                  <a:schemeClr val="dk1"/>
                </a:solidFill>
                <a:latin typeface="Times New Roman"/>
                <a:ea typeface="Times New Roman"/>
                <a:cs typeface="Times New Roman"/>
                <a:sym typeface="Times New Roman"/>
              </a:rPr>
              <a:t>Many clients watch videos from the </a:t>
            </a:r>
            <a:r>
              <a:rPr lang="en-IN" sz="1600" b="1">
                <a:solidFill>
                  <a:schemeClr val="dk1"/>
                </a:solidFill>
                <a:latin typeface="Times New Roman"/>
                <a:ea typeface="Times New Roman"/>
                <a:cs typeface="Times New Roman"/>
                <a:sym typeface="Times New Roman"/>
              </a:rPr>
              <a:t>same server at the same time</a:t>
            </a:r>
            <a:r>
              <a:rPr lang="en-IN" sz="1600">
                <a:solidFill>
                  <a:schemeClr val="dk1"/>
                </a:solidFill>
                <a:latin typeface="Times New Roman"/>
                <a:ea typeface="Times New Roman"/>
                <a:cs typeface="Times New Roman"/>
                <a:sym typeface="Times New Roman"/>
              </a:rPr>
              <a:t>.</a:t>
            </a:r>
            <a:endParaRPr/>
          </a:p>
          <a:p>
            <a:pPr indent="-285750" lvl="0" marL="285750" marR="0" rtl="0" algn="l">
              <a:spcBef>
                <a:spcPts val="0"/>
              </a:spcBef>
              <a:spcAft>
                <a:spcPts val="0"/>
              </a:spcAft>
              <a:buClr>
                <a:schemeClr val="dk1"/>
              </a:buClr>
              <a:buSzPts val="1600"/>
              <a:buFont typeface="Arial"/>
              <a:buChar char="•"/>
            </a:pPr>
            <a:r>
              <a:rPr lang="en-IN" sz="1600">
                <a:solidFill>
                  <a:schemeClr val="dk1"/>
                </a:solidFill>
                <a:latin typeface="Times New Roman"/>
                <a:ea typeface="Times New Roman"/>
                <a:cs typeface="Times New Roman"/>
                <a:sym typeface="Times New Roman"/>
              </a:rPr>
              <a:t>Network speed can </a:t>
            </a:r>
            <a:r>
              <a:rPr lang="en-IN" sz="1600" b="1">
                <a:solidFill>
                  <a:schemeClr val="dk1"/>
                </a:solidFill>
                <a:latin typeface="Times New Roman"/>
                <a:ea typeface="Times New Roman"/>
                <a:cs typeface="Times New Roman"/>
                <a:sym typeface="Times New Roman"/>
              </a:rPr>
              <a:t>change during playback</a:t>
            </a:r>
            <a:r>
              <a:rPr lang="en-IN" sz="1600">
                <a:solidFill>
                  <a:schemeClr val="dk1"/>
                </a:solidFill>
                <a:latin typeface="Times New Roman"/>
                <a:ea typeface="Times New Roman"/>
                <a:cs typeface="Times New Roman"/>
                <a:sym typeface="Times New Roman"/>
              </a:rPr>
              <a:t>.</a:t>
            </a:r>
            <a:endParaRPr/>
          </a:p>
          <a:p>
            <a:pPr indent="-285750" lvl="0" marL="285750" marR="0" rtl="0" algn="l">
              <a:spcBef>
                <a:spcPts val="0"/>
              </a:spcBef>
              <a:spcAft>
                <a:spcPts val="0"/>
              </a:spcAft>
              <a:buClr>
                <a:schemeClr val="dk1"/>
              </a:buClr>
              <a:buSzPts val="1600"/>
              <a:buFont typeface="Arial"/>
              <a:buChar char="•"/>
            </a:pPr>
            <a:r>
              <a:rPr lang="en-IN" sz="1600">
                <a:solidFill>
                  <a:schemeClr val="dk1"/>
                </a:solidFill>
                <a:latin typeface="Times New Roman"/>
                <a:ea typeface="Times New Roman"/>
                <a:cs typeface="Times New Roman"/>
                <a:sym typeface="Times New Roman"/>
              </a:rPr>
              <a:t>When the network slows down, chunks take </a:t>
            </a:r>
            <a:r>
              <a:rPr lang="en-IN" sz="1600" b="1">
                <a:solidFill>
                  <a:schemeClr val="dk1"/>
                </a:solidFill>
                <a:latin typeface="Times New Roman"/>
                <a:ea typeface="Times New Roman"/>
                <a:cs typeface="Times New Roman"/>
                <a:sym typeface="Times New Roman"/>
              </a:rPr>
              <a:t>longer to download</a:t>
            </a:r>
            <a:r>
              <a:rPr lang="en-IN" sz="1600">
                <a:solidFill>
                  <a:schemeClr val="dk1"/>
                </a:solidFill>
                <a:latin typeface="Times New Roman"/>
                <a:ea typeface="Times New Roman"/>
                <a:cs typeface="Times New Roman"/>
                <a:sym typeface="Times New Roman"/>
              </a:rPr>
              <a:t>.</a:t>
            </a:r>
            <a:endParaRPr/>
          </a:p>
          <a:p>
            <a:pPr indent="-285750" lvl="0" marL="285750" marR="0" rtl="0" algn="l">
              <a:spcBef>
                <a:spcPts val="0"/>
              </a:spcBef>
              <a:spcAft>
                <a:spcPts val="0"/>
              </a:spcAft>
              <a:buClr>
                <a:schemeClr val="dk1"/>
              </a:buClr>
              <a:buSzPts val="1600"/>
              <a:buFont typeface="Arial"/>
              <a:buChar char="•"/>
            </a:pPr>
            <a:r>
              <a:rPr lang="en-IN" sz="1600">
                <a:solidFill>
                  <a:schemeClr val="dk1"/>
                </a:solidFill>
                <a:latin typeface="Times New Roman"/>
                <a:ea typeface="Times New Roman"/>
                <a:cs typeface="Times New Roman"/>
                <a:sym typeface="Times New Roman"/>
              </a:rPr>
              <a:t>A low buffer can make the video </a:t>
            </a:r>
            <a:r>
              <a:rPr lang="en-IN" sz="1600" b="1">
                <a:solidFill>
                  <a:schemeClr val="dk1"/>
                </a:solidFill>
                <a:latin typeface="Times New Roman"/>
                <a:ea typeface="Times New Roman"/>
                <a:cs typeface="Times New Roman"/>
                <a:sym typeface="Times New Roman"/>
              </a:rPr>
              <a:t>stop or rebuffer</a:t>
            </a:r>
            <a:r>
              <a:rPr lang="en-IN" sz="1600">
                <a:solidFill>
                  <a:schemeClr val="dk1"/>
                </a:solidFill>
                <a:latin typeface="Times New Roman"/>
                <a:ea typeface="Times New Roman"/>
                <a:cs typeface="Times New Roman"/>
                <a:sym typeface="Times New Roman"/>
              </a:rPr>
              <a:t>.</a:t>
            </a:r>
            <a:endParaRPr/>
          </a:p>
          <a:p>
            <a:pPr indent="-285750" lvl="0" marL="285750" marR="0" rtl="0" algn="l">
              <a:spcBef>
                <a:spcPts val="0"/>
              </a:spcBef>
              <a:spcAft>
                <a:spcPts val="0"/>
              </a:spcAft>
              <a:buClr>
                <a:schemeClr val="dk1"/>
              </a:buClr>
              <a:buSzPts val="1600"/>
              <a:buFont typeface="Arial"/>
              <a:buChar char="•"/>
            </a:pPr>
            <a:r>
              <a:rPr lang="en-IN" sz="1600">
                <a:solidFill>
                  <a:schemeClr val="dk1"/>
                </a:solidFill>
                <a:latin typeface="Times New Roman"/>
                <a:ea typeface="Times New Roman"/>
                <a:cs typeface="Times New Roman"/>
                <a:sym typeface="Times New Roman"/>
              </a:rPr>
              <a:t>More clients means </a:t>
            </a:r>
            <a:r>
              <a:rPr lang="en-IN" sz="1600" b="1">
                <a:solidFill>
                  <a:schemeClr val="dk1"/>
                </a:solidFill>
                <a:latin typeface="Times New Roman"/>
                <a:ea typeface="Times New Roman"/>
                <a:cs typeface="Times New Roman"/>
                <a:sym typeface="Times New Roman"/>
              </a:rPr>
              <a:t>more load on the server</a:t>
            </a:r>
            <a:r>
              <a:rPr lang="en-IN" sz="1600">
                <a:solidFill>
                  <a:schemeClr val="dk1"/>
                </a:solidFill>
                <a:latin typeface="Times New Roman"/>
                <a:ea typeface="Times New Roman"/>
                <a:cs typeface="Times New Roman"/>
                <a:sym typeface="Times New Roman"/>
              </a:rPr>
              <a:t>, so chunks may reach clients late.</a:t>
            </a:r>
            <a:endParaRPr/>
          </a:p>
          <a:p>
            <a:pPr indent="-285750" lvl="0" marL="285750" marR="0" rtl="0" algn="l">
              <a:spcBef>
                <a:spcPts val="0"/>
              </a:spcBef>
              <a:spcAft>
                <a:spcPts val="0"/>
              </a:spcAft>
              <a:buClr>
                <a:schemeClr val="dk1"/>
              </a:buClr>
              <a:buSzPts val="1600"/>
              <a:buFont typeface="Arial"/>
              <a:buChar char="•"/>
            </a:pPr>
            <a:r>
              <a:rPr lang="en-IN" sz="1600">
                <a:solidFill>
                  <a:schemeClr val="dk1"/>
                </a:solidFill>
                <a:latin typeface="Times New Roman"/>
                <a:ea typeface="Times New Roman"/>
                <a:cs typeface="Times New Roman"/>
                <a:sym typeface="Times New Roman"/>
              </a:rPr>
              <a:t>Frequent network changes can make </a:t>
            </a:r>
            <a:r>
              <a:rPr lang="en-IN" sz="1600" b="1">
                <a:solidFill>
                  <a:schemeClr val="dk1"/>
                </a:solidFill>
                <a:latin typeface="Times New Roman"/>
                <a:ea typeface="Times New Roman"/>
                <a:cs typeface="Times New Roman"/>
                <a:sym typeface="Times New Roman"/>
              </a:rPr>
              <a:t>video quality unstable</a:t>
            </a:r>
            <a:r>
              <a:rPr lang="en-IN" sz="1600">
                <a:solidFill>
                  <a:schemeClr val="dk1"/>
                </a:solidFill>
                <a:latin typeface="Times New Roman"/>
                <a:ea typeface="Times New Roman"/>
                <a:cs typeface="Times New Roman"/>
                <a:sym typeface="Times New Roman"/>
              </a:rPr>
              <a:t>.</a:t>
            </a:r>
            <a:endParaRPr/>
          </a:p>
          <a:p>
            <a:pPr indent="-184150" lvl="0" marL="285750" marR="0" rtl="0" algn="l">
              <a:spcBef>
                <a:spcPts val="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p:txBody>
      </p:sp>
      <p:sp>
        <p:nvSpPr>
          <p:cNvPr id="110" name="Google Shape;110;p2"/>
          <p:cNvSpPr txBox="1"/>
          <p:nvPr/>
        </p:nvSpPr>
        <p:spPr>
          <a:xfrm>
            <a:off x="4747504" y="994961"/>
            <a:ext cx="4095145"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600">
                <a:solidFill>
                  <a:schemeClr val="dk1"/>
                </a:solidFill>
                <a:latin typeface="Times New Roman"/>
                <a:ea typeface="Times New Roman"/>
                <a:cs typeface="Times New Roman"/>
                <a:sym typeface="Times New Roman"/>
              </a:rPr>
              <a:t>Why Existing Approaches Are Insufficient</a:t>
            </a:r>
            <a:endParaRPr/>
          </a:p>
          <a:p>
            <a:pPr indent="0" lvl="0" marL="0" marR="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600"/>
              <a:buFont typeface="Arial"/>
              <a:buChar char="•"/>
            </a:pPr>
            <a:r>
              <a:rPr b="1" lang="en-IN" sz="1600">
                <a:solidFill>
                  <a:schemeClr val="dk1"/>
                </a:solidFill>
                <a:latin typeface="Times New Roman"/>
                <a:ea typeface="Times New Roman"/>
                <a:cs typeface="Times New Roman"/>
                <a:sym typeface="Times New Roman"/>
              </a:rPr>
              <a:t>ABR algorithms</a:t>
            </a:r>
            <a:r>
              <a:rPr b="0" lang="en-IN" sz="1600">
                <a:solidFill>
                  <a:schemeClr val="dk1"/>
                </a:solidFill>
                <a:latin typeface="Times New Roman"/>
                <a:ea typeface="Times New Roman"/>
                <a:cs typeface="Times New Roman"/>
                <a:sym typeface="Times New Roman"/>
              </a:rPr>
              <a:t> choose quality for one client using its own speed.</a:t>
            </a:r>
            <a:endParaRPr/>
          </a:p>
          <a:p>
            <a:pPr indent="-285750" lvl="0" marL="285750" marR="0" rtl="0" algn="l">
              <a:spcBef>
                <a:spcPts val="0"/>
              </a:spcBef>
              <a:spcAft>
                <a:spcPts val="0"/>
              </a:spcAft>
              <a:buClr>
                <a:schemeClr val="dk1"/>
              </a:buClr>
              <a:buSzPts val="1600"/>
              <a:buFont typeface="Arial"/>
              <a:buChar char="•"/>
            </a:pPr>
            <a:r>
              <a:rPr b="0" lang="en-IN" sz="1600">
                <a:solidFill>
                  <a:schemeClr val="dk1"/>
                </a:solidFill>
                <a:latin typeface="Times New Roman"/>
                <a:ea typeface="Times New Roman"/>
                <a:cs typeface="Times New Roman"/>
                <a:sym typeface="Times New Roman"/>
              </a:rPr>
              <a:t>When speed changes suddenly, they take time to </a:t>
            </a:r>
            <a:r>
              <a:rPr b="1" lang="en-IN" sz="1600">
                <a:solidFill>
                  <a:schemeClr val="dk1"/>
                </a:solidFill>
                <a:latin typeface="Times New Roman"/>
                <a:ea typeface="Times New Roman"/>
                <a:cs typeface="Times New Roman"/>
                <a:sym typeface="Times New Roman"/>
              </a:rPr>
              <a:t>pick the right quality</a:t>
            </a:r>
            <a:r>
              <a:rPr b="0" lang="en-IN" sz="1600">
                <a:solidFill>
                  <a:schemeClr val="dk1"/>
                </a:solidFill>
                <a:latin typeface="Times New Roman"/>
                <a:ea typeface="Times New Roman"/>
                <a:cs typeface="Times New Roman"/>
                <a:sym typeface="Times New Roman"/>
              </a:rPr>
              <a:t>.</a:t>
            </a:r>
            <a:endParaRPr/>
          </a:p>
          <a:p>
            <a:pPr indent="-285750" lvl="0" marL="285750" marR="0" rtl="0" algn="l">
              <a:spcBef>
                <a:spcPts val="0"/>
              </a:spcBef>
              <a:spcAft>
                <a:spcPts val="0"/>
              </a:spcAft>
              <a:buClr>
                <a:schemeClr val="dk1"/>
              </a:buClr>
              <a:buSzPts val="1600"/>
              <a:buFont typeface="Arial"/>
              <a:buChar char="•"/>
            </a:pPr>
            <a:r>
              <a:rPr b="0" lang="en-IN" sz="1600">
                <a:solidFill>
                  <a:schemeClr val="dk1"/>
                </a:solidFill>
                <a:latin typeface="Times New Roman"/>
                <a:ea typeface="Times New Roman"/>
                <a:cs typeface="Times New Roman"/>
                <a:sym typeface="Times New Roman"/>
              </a:rPr>
              <a:t>Small, frequent changes cause </a:t>
            </a:r>
            <a:r>
              <a:rPr b="1" lang="en-IN" sz="1600">
                <a:solidFill>
                  <a:schemeClr val="dk1"/>
                </a:solidFill>
                <a:latin typeface="Times New Roman"/>
                <a:ea typeface="Times New Roman"/>
                <a:cs typeface="Times New Roman"/>
                <a:sym typeface="Times New Roman"/>
              </a:rPr>
              <a:t>constant quality switching</a:t>
            </a:r>
            <a:r>
              <a:rPr b="0" lang="en-IN" sz="1600">
                <a:solidFill>
                  <a:schemeClr val="dk1"/>
                </a:solidFill>
                <a:latin typeface="Times New Roman"/>
                <a:ea typeface="Times New Roman"/>
                <a:cs typeface="Times New Roman"/>
                <a:sym typeface="Times New Roman"/>
              </a:rPr>
              <a:t>.</a:t>
            </a:r>
            <a:endParaRPr/>
          </a:p>
          <a:p>
            <a:pPr indent="-285750" lvl="0" marL="285750" marR="0" rtl="0" algn="l">
              <a:spcBef>
                <a:spcPts val="0"/>
              </a:spcBef>
              <a:spcAft>
                <a:spcPts val="0"/>
              </a:spcAft>
              <a:buClr>
                <a:schemeClr val="dk1"/>
              </a:buClr>
              <a:buSzPts val="1600"/>
              <a:buFont typeface="Arial"/>
              <a:buChar char="•"/>
            </a:pPr>
            <a:r>
              <a:rPr b="0" lang="en-IN" sz="1600">
                <a:solidFill>
                  <a:schemeClr val="dk1"/>
                </a:solidFill>
                <a:latin typeface="Times New Roman"/>
                <a:ea typeface="Times New Roman"/>
                <a:cs typeface="Times New Roman"/>
                <a:sym typeface="Times New Roman"/>
              </a:rPr>
              <a:t>Many clients asking together can </a:t>
            </a:r>
            <a:r>
              <a:rPr b="1" lang="en-IN" sz="1600">
                <a:solidFill>
                  <a:schemeClr val="dk1"/>
                </a:solidFill>
                <a:latin typeface="Times New Roman"/>
                <a:ea typeface="Times New Roman"/>
                <a:cs typeface="Times New Roman"/>
                <a:sym typeface="Times New Roman"/>
              </a:rPr>
              <a:t>overload the server</a:t>
            </a:r>
            <a:r>
              <a:rPr b="0" lang="en-IN" sz="1600">
                <a:solidFill>
                  <a:schemeClr val="dk1"/>
                </a:solidFill>
                <a:latin typeface="Times New Roman"/>
                <a:ea typeface="Times New Roman"/>
                <a:cs typeface="Times New Roman"/>
                <a:sym typeface="Times New Roman"/>
              </a:rPr>
              <a:t> and slow everyone.</a:t>
            </a:r>
            <a:endParaRPr/>
          </a:p>
          <a:p>
            <a:pPr indent="-285750" lvl="0" marL="285750" marR="0" rtl="0" algn="l">
              <a:spcBef>
                <a:spcPts val="0"/>
              </a:spcBef>
              <a:spcAft>
                <a:spcPts val="0"/>
              </a:spcAft>
              <a:buClr>
                <a:schemeClr val="dk1"/>
              </a:buClr>
              <a:buSzPts val="1600"/>
              <a:buFont typeface="Arial"/>
              <a:buChar char="•"/>
            </a:pPr>
            <a:r>
              <a:rPr b="0" lang="en-IN" sz="1600">
                <a:solidFill>
                  <a:schemeClr val="dk1"/>
                </a:solidFill>
                <a:latin typeface="Times New Roman"/>
                <a:ea typeface="Times New Roman"/>
                <a:cs typeface="Times New Roman"/>
                <a:sym typeface="Times New Roman"/>
              </a:rPr>
              <a:t>Sending the same chunk again and again from storage is slow. </a:t>
            </a:r>
            <a:r>
              <a:rPr b="1" lang="en-IN" sz="1600">
                <a:solidFill>
                  <a:schemeClr val="dk1"/>
                </a:solidFill>
                <a:latin typeface="Times New Roman"/>
                <a:ea typeface="Times New Roman"/>
                <a:cs typeface="Times New Roman"/>
                <a:sym typeface="Times New Roman"/>
              </a:rPr>
              <a:t>Server caching</a:t>
            </a:r>
            <a:r>
              <a:rPr b="0" lang="en-IN" sz="1600">
                <a:solidFill>
                  <a:schemeClr val="dk1"/>
                </a:solidFill>
                <a:latin typeface="Times New Roman"/>
                <a:ea typeface="Times New Roman"/>
                <a:cs typeface="Times New Roman"/>
                <a:sym typeface="Times New Roman"/>
              </a:rPr>
              <a:t> can help.</a:t>
            </a:r>
            <a:endParaRPr/>
          </a:p>
          <a:p>
            <a:pPr indent="-184150" lvl="0" marL="285750" marR="0" rtl="0" algn="l">
              <a:spcBef>
                <a:spcPts val="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300735" y="2842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116" name="Google Shape;116;p3"/>
          <p:cNvCxnSpPr/>
          <p:nvPr/>
        </p:nvCxnSpPr>
        <p:spPr>
          <a:xfrm>
            <a:off x="654205" y="897527"/>
            <a:ext cx="7843024" cy="0"/>
          </a:xfrm>
          <a:prstGeom prst="straightConnector1">
            <a:avLst/>
          </a:prstGeom>
          <a:noFill/>
          <a:ln cap="flat" cmpd="sng" w="12700">
            <a:solidFill>
              <a:schemeClr val="accent2"/>
            </a:solidFill>
            <a:prstDash val="solid"/>
            <a:miter lim="8000"/>
            <a:headEnd len="sm" w="sm" type="none"/>
            <a:tailEnd len="sm" w="sm" type="none"/>
          </a:ln>
        </p:spPr>
      </p:cxnSp>
      <p:pic>
        <p:nvPicPr>
          <p:cNvPr id="117" name="Google Shape;117;p3"/>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118" name="Google Shape;118;p3"/>
          <p:cNvSpPr txBox="1"/>
          <p:nvPr/>
        </p:nvSpPr>
        <p:spPr>
          <a:xfrm>
            <a:off x="654205" y="292453"/>
            <a:ext cx="630415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200"/>
              <a:buFont typeface="Times New Roman"/>
              <a:buNone/>
            </a:pPr>
            <a:r>
              <a:rPr b="1" lang="en-IN" sz="3200">
                <a:solidFill>
                  <a:schemeClr val="dk1"/>
                </a:solidFill>
                <a:latin typeface="Times New Roman"/>
                <a:ea typeface="Times New Roman"/>
                <a:cs typeface="Times New Roman"/>
                <a:sym typeface="Times New Roman"/>
              </a:rPr>
              <a:t>Who Is Involved</a:t>
            </a:r>
            <a:endParaRPr/>
          </a:p>
        </p:txBody>
      </p:sp>
      <p:graphicFrame>
        <p:nvGraphicFramePr>
          <p:cNvPr id="119" name="Google Shape;119;p3"/>
          <p:cNvGraphicFramePr/>
          <p:nvPr/>
        </p:nvGraphicFramePr>
        <p:xfrm>
          <a:off x="794067" y="1116639"/>
          <a:ext cx="3000000" cy="3000000"/>
        </p:xfrm>
        <a:graphic>
          <a:graphicData uri="http://schemas.openxmlformats.org/drawingml/2006/table">
            <a:tbl>
              <a:tblPr>
                <a:noFill/>
                <a:tableStyleId>{357E4A72-1A30-4132-B10C-302D43076DB2}</a:tableStyleId>
              </a:tblPr>
              <a:tblGrid>
                <a:gridCol w="1511175"/>
                <a:gridCol w="1511175"/>
                <a:gridCol w="1511175"/>
                <a:gridCol w="1686825"/>
                <a:gridCol w="1732550"/>
              </a:tblGrid>
              <a:tr h="273625">
                <a:tc>
                  <a:txBody>
                    <a:bodyPr/>
                    <a:lstStyle/>
                    <a:p>
                      <a:pPr indent="0" lvl="0" marL="0" marR="0" rtl="0" algn="ctr">
                        <a:spcBef>
                          <a:spcPts val="0"/>
                        </a:spcBef>
                        <a:spcAft>
                          <a:spcPts val="0"/>
                        </a:spcAft>
                        <a:buClr>
                          <a:srgbClr val="C00000"/>
                        </a:buClr>
                        <a:buSzPts val="1600"/>
                        <a:buFont typeface="Times New Roman"/>
                        <a:buNone/>
                      </a:pPr>
                      <a:r>
                        <a:rPr b="1" lang="en-IN" sz="1600" u="none" cap="none" strike="noStrike">
                          <a:solidFill>
                            <a:srgbClr val="C00000"/>
                          </a:solidFill>
                          <a:latin typeface="Times New Roman"/>
                          <a:ea typeface="Times New Roman"/>
                          <a:cs typeface="Times New Roman"/>
                          <a:sym typeface="Times New Roman"/>
                        </a:rPr>
                        <a:t>Stakeholder</a:t>
                      </a:r>
                      <a:endParaRPr/>
                    </a:p>
                  </a:txBody>
                  <a:tcPr marT="42100" marB="42100" marR="84200" marL="84200" anchor="ctr">
                    <a:solidFill>
                      <a:srgbClr val="AAE571"/>
                    </a:solidFill>
                  </a:tcPr>
                </a:tc>
                <a:tc>
                  <a:txBody>
                    <a:bodyPr/>
                    <a:lstStyle/>
                    <a:p>
                      <a:pPr indent="0" lvl="0" marL="0" marR="0" rtl="0" algn="ctr">
                        <a:spcBef>
                          <a:spcPts val="0"/>
                        </a:spcBef>
                        <a:spcAft>
                          <a:spcPts val="0"/>
                        </a:spcAft>
                        <a:buClr>
                          <a:srgbClr val="C00000"/>
                        </a:buClr>
                        <a:buSzPts val="1600"/>
                        <a:buFont typeface="Times New Roman"/>
                        <a:buNone/>
                      </a:pPr>
                      <a:r>
                        <a:rPr b="1" lang="en-IN" sz="1600" u="none" cap="none" strike="noStrike">
                          <a:solidFill>
                            <a:srgbClr val="C00000"/>
                          </a:solidFill>
                          <a:latin typeface="Times New Roman"/>
                          <a:ea typeface="Times New Roman"/>
                          <a:cs typeface="Times New Roman"/>
                          <a:sym typeface="Times New Roman"/>
                        </a:rPr>
                        <a:t>Role</a:t>
                      </a:r>
                      <a:endParaRPr/>
                    </a:p>
                  </a:txBody>
                  <a:tcPr marT="42100" marB="42100" marR="84200" marL="84200" anchor="ctr">
                    <a:solidFill>
                      <a:srgbClr val="AAE571"/>
                    </a:solidFill>
                  </a:tcPr>
                </a:tc>
                <a:tc>
                  <a:txBody>
                    <a:bodyPr/>
                    <a:lstStyle/>
                    <a:p>
                      <a:pPr indent="0" lvl="0" marL="0" marR="0" rtl="0" algn="ctr">
                        <a:spcBef>
                          <a:spcPts val="0"/>
                        </a:spcBef>
                        <a:spcAft>
                          <a:spcPts val="0"/>
                        </a:spcAft>
                        <a:buClr>
                          <a:srgbClr val="C00000"/>
                        </a:buClr>
                        <a:buSzPts val="1600"/>
                        <a:buFont typeface="Times New Roman"/>
                        <a:buNone/>
                      </a:pPr>
                      <a:r>
                        <a:rPr b="1" lang="en-IN" sz="1600" u="none" cap="none" strike="noStrike">
                          <a:solidFill>
                            <a:srgbClr val="C00000"/>
                          </a:solidFill>
                          <a:latin typeface="Times New Roman"/>
                          <a:ea typeface="Times New Roman"/>
                          <a:cs typeface="Times New Roman"/>
                          <a:sym typeface="Times New Roman"/>
                        </a:rPr>
                        <a:t>Need</a:t>
                      </a:r>
                      <a:endParaRPr/>
                    </a:p>
                  </a:txBody>
                  <a:tcPr marT="42100" marB="42100" marR="84200" marL="84200" anchor="ctr">
                    <a:solidFill>
                      <a:srgbClr val="AAE571"/>
                    </a:solidFill>
                  </a:tcPr>
                </a:tc>
                <a:tc>
                  <a:txBody>
                    <a:bodyPr/>
                    <a:lstStyle/>
                    <a:p>
                      <a:pPr indent="0" lvl="0" marL="0" marR="0" rtl="0" algn="ctr">
                        <a:spcBef>
                          <a:spcPts val="0"/>
                        </a:spcBef>
                        <a:spcAft>
                          <a:spcPts val="0"/>
                        </a:spcAft>
                        <a:buClr>
                          <a:srgbClr val="C00000"/>
                        </a:buClr>
                        <a:buSzPts val="1600"/>
                        <a:buFont typeface="Times New Roman"/>
                        <a:buNone/>
                      </a:pPr>
                      <a:r>
                        <a:rPr b="1" lang="en-IN" sz="1600" u="none" cap="none" strike="noStrike">
                          <a:solidFill>
                            <a:srgbClr val="C00000"/>
                          </a:solidFill>
                          <a:latin typeface="Times New Roman"/>
                          <a:ea typeface="Times New Roman"/>
                          <a:cs typeface="Times New Roman"/>
                          <a:sym typeface="Times New Roman"/>
                        </a:rPr>
                        <a:t>Difficulty Faced</a:t>
                      </a:r>
                      <a:endParaRPr/>
                    </a:p>
                  </a:txBody>
                  <a:tcPr marT="42100" marB="42100" marR="84200" marL="84200" anchor="ctr">
                    <a:solidFill>
                      <a:srgbClr val="AAE571"/>
                    </a:solidFill>
                  </a:tcPr>
                </a:tc>
                <a:tc>
                  <a:txBody>
                    <a:bodyPr/>
                    <a:lstStyle/>
                    <a:p>
                      <a:pPr indent="0" lvl="0" marL="0" marR="0" rtl="0" algn="ctr">
                        <a:spcBef>
                          <a:spcPts val="0"/>
                        </a:spcBef>
                        <a:spcAft>
                          <a:spcPts val="0"/>
                        </a:spcAft>
                        <a:buClr>
                          <a:srgbClr val="C00000"/>
                        </a:buClr>
                        <a:buSzPts val="1600"/>
                        <a:buFont typeface="Times New Roman"/>
                        <a:buNone/>
                      </a:pPr>
                      <a:r>
                        <a:rPr b="1" lang="en-IN" sz="1600" u="none" cap="none" strike="noStrike">
                          <a:solidFill>
                            <a:srgbClr val="C00000"/>
                          </a:solidFill>
                          <a:latin typeface="Times New Roman"/>
                          <a:ea typeface="Times New Roman"/>
                          <a:cs typeface="Times New Roman"/>
                          <a:sym typeface="Times New Roman"/>
                        </a:rPr>
                        <a:t>Expected Benefit</a:t>
                      </a:r>
                      <a:endParaRPr/>
                    </a:p>
                  </a:txBody>
                  <a:tcPr marT="42100" marB="42100" marR="84200" marL="84200" anchor="ctr">
                    <a:solidFill>
                      <a:srgbClr val="AAE571"/>
                    </a:solidFill>
                  </a:tcPr>
                </a:tc>
              </a:tr>
              <a:tr h="652450">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Video Viewers (Primary)</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Watch the video (many at the same time)</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Smooth playback and good quality</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Video may stop when the buffer becomes empty</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Less buffering and better playback</a:t>
                      </a:r>
                      <a:endParaRPr/>
                    </a:p>
                  </a:txBody>
                  <a:tcPr marT="42100" marB="42100" marR="84200" marL="84200" anchor="ctr"/>
                </a:tc>
              </a:tr>
              <a:tr h="652450">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Video Server (Secondary)</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Stores, caches and sends chunks to many clients</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Serve many clients at the same time</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Many requests together; network speed keeps changing</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Less load and faster delivery using cache</a:t>
                      </a:r>
                      <a:endParaRPr/>
                    </a:p>
                  </a:txBody>
                  <a:tcPr marT="42100" marB="42100" marR="84200" marL="84200" anchor="ctr"/>
                </a:tc>
              </a:tr>
              <a:tr h="841875">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Video Clients (Secondary)</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Download and play video; each client selects its own quality</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Correct quality and enough buffer</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Hard to choose quality when speed changes or server is busy</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Better quality with fewer stalls</a:t>
                      </a:r>
                      <a:endParaRPr/>
                    </a:p>
                  </a:txBody>
                  <a:tcPr marT="42100" marB="42100" marR="84200" marL="84200" anchor="ctr"/>
                </a:tc>
              </a:tr>
              <a:tr h="841875">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Developer / Project Team (Secondary)</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Builds and tests the system</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Simple and measurable system</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Hard to test many clients and changing network speed</a:t>
                      </a:r>
                      <a:endParaRPr/>
                    </a:p>
                  </a:txBody>
                  <a:tcPr marT="42100" marB="42100" marR="84200" marL="84200" anchor="ctr"/>
                </a:tc>
                <a:tc>
                  <a:txBody>
                    <a:bodyPr/>
                    <a:lstStyle/>
                    <a:p>
                      <a:pPr indent="0" lvl="0" marL="0" marR="0" rtl="0" algn="ctr">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Easier testing and performance analysis</a:t>
                      </a:r>
                      <a:endParaRPr/>
                    </a:p>
                  </a:txBody>
                  <a:tcPr marT="42100" marB="42100" marR="84200" marL="84200" anchor="ctr"/>
                </a:tc>
              </a:tr>
            </a:tbl>
          </a:graphicData>
        </a:graphic>
      </p:graphicFrame>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
          <p:cNvSpPr txBox="1"/>
          <p:nvPr>
            <p:ph type="title"/>
          </p:nvPr>
        </p:nvSpPr>
        <p:spPr>
          <a:xfrm>
            <a:off x="300735" y="2842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125" name="Google Shape;125;p4"/>
          <p:cNvCxnSpPr/>
          <p:nvPr/>
        </p:nvCxnSpPr>
        <p:spPr>
          <a:xfrm>
            <a:off x="193288" y="856930"/>
            <a:ext cx="8303941" cy="40597"/>
          </a:xfrm>
          <a:prstGeom prst="straightConnector1">
            <a:avLst/>
          </a:prstGeom>
          <a:noFill/>
          <a:ln cap="flat" cmpd="sng" w="12700">
            <a:solidFill>
              <a:schemeClr val="accent2"/>
            </a:solidFill>
            <a:prstDash val="solid"/>
            <a:miter lim="8000"/>
            <a:headEnd len="sm" w="sm" type="none"/>
            <a:tailEnd len="sm" w="sm" type="none"/>
          </a:ln>
        </p:spPr>
      </p:cxnSp>
      <p:pic>
        <p:nvPicPr>
          <p:cNvPr id="126" name="Google Shape;126;p4"/>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127" name="Google Shape;127;p4"/>
          <p:cNvSpPr txBox="1"/>
          <p:nvPr/>
        </p:nvSpPr>
        <p:spPr>
          <a:xfrm>
            <a:off x="223743" y="344905"/>
            <a:ext cx="8541914" cy="4770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500"/>
              <a:buFont typeface="Times New Roman"/>
              <a:buNone/>
            </a:pPr>
            <a:r>
              <a:rPr b="1" lang="en-IN" sz="2500">
                <a:solidFill>
                  <a:schemeClr val="dk1"/>
                </a:solidFill>
                <a:latin typeface="Times New Roman"/>
                <a:ea typeface="Times New Roman"/>
                <a:cs typeface="Times New Roman"/>
                <a:sym typeface="Times New Roman"/>
              </a:rPr>
              <a:t>AS-IS FLOW : Current Video Streaming Process</a:t>
            </a:r>
            <a:endParaRPr/>
          </a:p>
        </p:txBody>
      </p:sp>
      <p:pic>
        <p:nvPicPr>
          <p:cNvPr id="128" name="Google Shape;128;p4"/>
          <p:cNvPicPr preferRelativeResize="0"/>
          <p:nvPr/>
        </p:nvPicPr>
        <p:blipFill rotWithShape="1">
          <a:blip r:embed="rId4">
            <a:alphaModFix/>
          </a:blip>
          <a:srcRect b="2306" l="0" r="0" t="13036"/>
          <a:stretch/>
        </p:blipFill>
        <p:spPr>
          <a:xfrm>
            <a:off x="1397855" y="932499"/>
            <a:ext cx="6467237" cy="4211002"/>
          </a:xfrm>
          <a:prstGeom prst="rect">
            <a:avLst/>
          </a:prstGeom>
          <a:noFill/>
          <a:ln>
            <a:noFill/>
          </a:ln>
        </p:spPr>
      </p:pic>
    </p:spTree>
  </p:cSld>
  <p:clrMapOvr>
    <a:masterClrMapping/>
  </p:clrMapOvr>
  <p:transition spd="slow">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Current Video Streaming Process</a:t>
            </a:r>
            <a:br>
              <a:rPr b="1" lang="en-IN" sz="2800">
                <a:latin typeface="Times New Roman"/>
                <a:ea typeface="Times New Roman"/>
                <a:cs typeface="Times New Roman"/>
                <a:sym typeface="Times New Roman"/>
              </a:rPr>
            </a:br>
            <a:endParaRPr sz="2400"/>
          </a:p>
        </p:txBody>
      </p:sp>
      <p:sp>
        <p:nvSpPr>
          <p:cNvPr id="134" name="Google Shape;134;p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35" name="Google Shape;135;p5"/>
          <p:cNvPicPr preferRelativeResize="0"/>
          <p:nvPr/>
        </p:nvPicPr>
        <p:blipFill rotWithShape="1">
          <a:blip r:embed="rId3">
            <a:alphaModFix/>
          </a:blip>
          <a:srcRect b="7314" l="0" r="0" t="15610"/>
          <a:stretch/>
        </p:blipFill>
        <p:spPr>
          <a:xfrm>
            <a:off x="714375" y="802888"/>
            <a:ext cx="7715250" cy="3964375"/>
          </a:xfrm>
          <a:prstGeom prst="rect">
            <a:avLst/>
          </a:prstGeom>
          <a:noFill/>
          <a:ln>
            <a:noFill/>
          </a:ln>
        </p:spPr>
      </p:pic>
      <p:cxnSp>
        <p:nvCxnSpPr>
          <p:cNvPr id="136" name="Google Shape;136;p5"/>
          <p:cNvCxnSpPr/>
          <p:nvPr/>
        </p:nvCxnSpPr>
        <p:spPr>
          <a:xfrm>
            <a:off x="654205" y="897527"/>
            <a:ext cx="7843024" cy="0"/>
          </a:xfrm>
          <a:prstGeom prst="straightConnector1">
            <a:avLst/>
          </a:prstGeom>
          <a:noFill/>
          <a:ln cap="flat" cmpd="sng" w="12700">
            <a:solidFill>
              <a:schemeClr val="accent2"/>
            </a:solidFill>
            <a:prstDash val="solid"/>
            <a:miter lim="8000"/>
            <a:headEnd len="sm" w="sm" type="none"/>
            <a:tailEnd len="sm" w="sm" type="none"/>
          </a:ln>
        </p:spPr>
      </p:cxnSp>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300735" y="2842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142" name="Google Shape;142;p6"/>
          <p:cNvCxnSpPr/>
          <p:nvPr/>
        </p:nvCxnSpPr>
        <p:spPr>
          <a:xfrm flipH="1" rot="10800000">
            <a:off x="193288" y="897527"/>
            <a:ext cx="8303941" cy="68912"/>
          </a:xfrm>
          <a:prstGeom prst="straightConnector1">
            <a:avLst/>
          </a:prstGeom>
          <a:noFill/>
          <a:ln cap="flat" cmpd="sng" w="12700">
            <a:solidFill>
              <a:schemeClr val="accent2"/>
            </a:solidFill>
            <a:prstDash val="solid"/>
            <a:miter lim="8000"/>
            <a:headEnd len="sm" w="sm" type="none"/>
            <a:tailEnd len="sm" w="sm" type="none"/>
          </a:ln>
        </p:spPr>
      </p:cxnSp>
      <p:pic>
        <p:nvPicPr>
          <p:cNvPr id="143" name="Google Shape;143;p6"/>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144" name="Google Shape;144;p6"/>
          <p:cNvSpPr txBox="1"/>
          <p:nvPr/>
        </p:nvSpPr>
        <p:spPr>
          <a:xfrm>
            <a:off x="-993735" y="329010"/>
            <a:ext cx="6304154"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3200"/>
              <a:buFont typeface="Times New Roman"/>
              <a:buNone/>
            </a:pPr>
            <a:r>
              <a:rPr b="1" lang="en-IN" sz="3200" u="sng">
                <a:solidFill>
                  <a:schemeClr val="dk1"/>
                </a:solidFill>
                <a:latin typeface="Times New Roman"/>
                <a:ea typeface="Times New Roman"/>
                <a:cs typeface="Times New Roman"/>
                <a:sym typeface="Times New Roman"/>
              </a:rPr>
              <a:t>Problem Statement</a:t>
            </a:r>
            <a:endParaRPr/>
          </a:p>
        </p:txBody>
      </p:sp>
      <p:sp>
        <p:nvSpPr>
          <p:cNvPr id="145" name="Google Shape;145;p6"/>
          <p:cNvSpPr txBox="1"/>
          <p:nvPr/>
        </p:nvSpPr>
        <p:spPr>
          <a:xfrm>
            <a:off x="354904" y="1549448"/>
            <a:ext cx="8434191"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Times New Roman"/>
              <a:buNone/>
            </a:pPr>
            <a:r>
              <a:rPr lang="en-IN" sz="1800">
                <a:solidFill>
                  <a:schemeClr val="dk1"/>
                </a:solidFill>
                <a:latin typeface="Times New Roman"/>
                <a:ea typeface="Times New Roman"/>
                <a:cs typeface="Times New Roman"/>
                <a:sym typeface="Times New Roman"/>
              </a:rPr>
              <a:t>Video streaming depends on the network speed and on how many clients use the same server. When the network slows down, video chunks take longer to download and the playback buffer goes down. This can lead to </a:t>
            </a:r>
            <a:r>
              <a:rPr lang="en-IN" sz="1800" b="1">
                <a:solidFill>
                  <a:schemeClr val="dk1"/>
                </a:solidFill>
                <a:latin typeface="Times New Roman"/>
                <a:ea typeface="Times New Roman"/>
                <a:cs typeface="Times New Roman"/>
                <a:sym typeface="Times New Roman"/>
              </a:rPr>
              <a:t>video buffering and playback interruption</a:t>
            </a:r>
            <a:r>
              <a:rPr lang="en-IN" sz="1800">
                <a:solidFill>
                  <a:schemeClr val="dk1"/>
                </a:solidFill>
                <a:latin typeface="Times New Roman"/>
                <a:ea typeface="Times New Roman"/>
                <a:cs typeface="Times New Roman"/>
                <a:sym typeface="Times New Roman"/>
              </a:rPr>
              <a:t>. When the network keeps changing, video quality may also change often. When many clients ask the server at the same time, the server becomes busy and delivery gets slower. Therefore, the main challenge is to maintain </a:t>
            </a:r>
            <a:r>
              <a:rPr lang="en-IN" sz="1800" b="1">
                <a:solidFill>
                  <a:schemeClr val="dk1"/>
                </a:solidFill>
                <a:latin typeface="Times New Roman"/>
                <a:ea typeface="Times New Roman"/>
                <a:cs typeface="Times New Roman"/>
                <a:sym typeface="Times New Roman"/>
              </a:rPr>
              <a:t>continuous playback and stable video quality for multiple clients</a:t>
            </a:r>
            <a:r>
              <a:rPr lang="en-IN" sz="1800">
                <a:solidFill>
                  <a:schemeClr val="dk1"/>
                </a:solidFill>
                <a:latin typeface="Times New Roman"/>
                <a:ea typeface="Times New Roman"/>
                <a:cs typeface="Times New Roman"/>
                <a:sym typeface="Times New Roman"/>
              </a:rPr>
              <a:t> by adapting video bitrate, managing playback buffers, and handling many requests together (with caching on the server) under changing network conditions.</a:t>
            </a:r>
            <a:endParaRPr/>
          </a:p>
        </p:txBody>
      </p:sp>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cxnSp>
        <p:nvCxnSpPr>
          <p:cNvPr id="150" name="Google Shape;150;p7"/>
          <p:cNvCxnSpPr/>
          <p:nvPr/>
        </p:nvCxnSpPr>
        <p:spPr>
          <a:xfrm>
            <a:off x="899532" y="898300"/>
            <a:ext cx="7672039" cy="0"/>
          </a:xfrm>
          <a:prstGeom prst="straightConnector1">
            <a:avLst/>
          </a:prstGeom>
          <a:noFill/>
          <a:ln cap="flat" cmpd="sng" w="12700">
            <a:solidFill>
              <a:schemeClr val="accent2"/>
            </a:solidFill>
            <a:prstDash val="solid"/>
            <a:miter lim="8000"/>
            <a:headEnd len="sm" w="sm" type="none"/>
            <a:tailEnd len="sm" w="sm" type="none"/>
          </a:ln>
        </p:spPr>
      </p:cxnSp>
      <p:pic>
        <p:nvPicPr>
          <p:cNvPr id="151" name="Google Shape;151;p7"/>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152" name="Google Shape;152;p7"/>
          <p:cNvSpPr txBox="1"/>
          <p:nvPr/>
        </p:nvSpPr>
        <p:spPr>
          <a:xfrm>
            <a:off x="1151313" y="949061"/>
            <a:ext cx="6089454" cy="830997"/>
          </a:xfrm>
          <a:prstGeom prst="rect">
            <a:avLst/>
          </a:prstGeom>
          <a:noFill/>
          <a:ln>
            <a:noFill/>
          </a:ln>
        </p:spPr>
        <p:txBody>
          <a:bodyPr anchorCtr="0" anchor="t" bIns="45700" lIns="91425" spcFirstLastPara="1" rIns="91425" wrap="square" tIns="45700">
            <a:spAutoFit/>
          </a:bodyPr>
          <a:lstStyle/>
          <a:p>
            <a:pPr indent="-184150" lvl="0" marL="285750" marR="0" rtl="0" algn="l">
              <a:spcBef>
                <a:spcPts val="0"/>
              </a:spcBef>
              <a:spcAft>
                <a:spcPts val="0"/>
              </a:spcAft>
              <a:buClr>
                <a:schemeClr val="dk1"/>
              </a:buClr>
              <a:buSzPts val="1600"/>
              <a:buFont typeface="Arial"/>
              <a:buNone/>
            </a:pPr>
            <a:r>
              <a:t/>
            </a:r>
            <a:endParaRPr b="1" sz="1600" u="sng">
              <a:solidFill>
                <a:schemeClr val="dk1"/>
              </a:solidFill>
              <a:latin typeface="Times New Roman"/>
              <a:ea typeface="Times New Roman"/>
              <a:cs typeface="Times New Roman"/>
              <a:sym typeface="Times New Roman"/>
            </a:endParaRPr>
          </a:p>
          <a:p>
            <a:pPr indent="-184150" lvl="0" marL="285750" marR="0" rtl="0" algn="l">
              <a:spcBef>
                <a:spcPts val="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a:p>
            <a:pPr indent="-184150" lvl="0" marL="285750" marR="0" rtl="0" algn="l">
              <a:spcBef>
                <a:spcPts val="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p:txBody>
      </p:sp>
      <p:sp>
        <p:nvSpPr>
          <p:cNvPr id="153" name="Google Shape;153;p7"/>
          <p:cNvSpPr txBox="1"/>
          <p:nvPr/>
        </p:nvSpPr>
        <p:spPr>
          <a:xfrm>
            <a:off x="1024128" y="325608"/>
            <a:ext cx="6675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2800">
                <a:solidFill>
                  <a:srgbClr val="14213D"/>
                </a:solidFill>
                <a:latin typeface="Times New Roman"/>
                <a:ea typeface="Times New Roman"/>
                <a:cs typeface="Times New Roman"/>
                <a:sym typeface="Times New Roman"/>
              </a:rPr>
              <a:t>Project Objectives</a:t>
            </a:r>
            <a:endParaRPr sz="2800">
              <a:solidFill>
                <a:schemeClr val="dk1"/>
              </a:solidFill>
              <a:latin typeface="Times New Roman"/>
              <a:ea typeface="Times New Roman"/>
              <a:cs typeface="Times New Roman"/>
              <a:sym typeface="Times New Roman"/>
            </a:endParaRPr>
          </a:p>
        </p:txBody>
      </p:sp>
      <p:pic>
        <p:nvPicPr>
          <p:cNvPr descr="preencoded.png" id="154" name="Google Shape;154;p7"/>
          <p:cNvPicPr preferRelativeResize="0"/>
          <p:nvPr/>
        </p:nvPicPr>
        <p:blipFill rotWithShape="1">
          <a:blip r:embed="rId3">
            <a:alphaModFix/>
          </a:blip>
          <a:srcRect b="0" l="0" r="0" t="0"/>
          <a:stretch/>
        </p:blipFill>
        <p:spPr>
          <a:xfrm>
            <a:off x="7360920" y="301752"/>
            <a:ext cx="1325880" cy="315468"/>
          </a:xfrm>
          <a:prstGeom prst="rect">
            <a:avLst/>
          </a:prstGeom>
          <a:noFill/>
          <a:ln>
            <a:noFill/>
          </a:ln>
        </p:spPr>
      </p:pic>
      <p:sp>
        <p:nvSpPr>
          <p:cNvPr id="155" name="Google Shape;155;p7"/>
          <p:cNvSpPr txBox="1"/>
          <p:nvPr/>
        </p:nvSpPr>
        <p:spPr>
          <a:xfrm>
            <a:off x="8138160" y="4773168"/>
            <a:ext cx="54864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156" name="Google Shape;156;p7"/>
          <p:cNvSpPr txBox="1"/>
          <p:nvPr/>
        </p:nvSpPr>
        <p:spPr>
          <a:xfrm>
            <a:off x="1024128" y="960120"/>
            <a:ext cx="6759702" cy="603504"/>
          </a:xfrm>
          <a:prstGeom prst="rect">
            <a:avLst/>
          </a:prstGeom>
          <a:noFill/>
          <a:ln>
            <a:noFill/>
          </a:ln>
        </p:spPr>
        <p:txBody>
          <a:bodyPr anchorCtr="0" anchor="ctr" bIns="0" lIns="0" spcFirstLastPara="1" rIns="0" wrap="square" tIns="0">
            <a:noAutofit/>
          </a:bodyPr>
          <a:lstStyle/>
          <a:p>
            <a:pPr indent="-285750" lvl="0" marL="285750" marR="0" rtl="0" algn="l">
              <a:spcBef>
                <a:spcPts val="0"/>
              </a:spcBef>
              <a:spcAft>
                <a:spcPts val="0"/>
              </a:spcAft>
              <a:buClr>
                <a:srgbClr val="14213D"/>
              </a:buClr>
              <a:buSzPts val="1600"/>
              <a:buFont typeface="Arial"/>
              <a:buChar char="•"/>
            </a:pPr>
            <a:r>
              <a:rPr b="1" lang="en-IN" sz="1600">
                <a:solidFill>
                  <a:srgbClr val="14213D"/>
                </a:solidFill>
                <a:latin typeface="Times New Roman"/>
                <a:ea typeface="Times New Roman"/>
                <a:cs typeface="Times New Roman"/>
                <a:sym typeface="Times New Roman"/>
              </a:rPr>
              <a:t>To understand </a:t>
            </a:r>
            <a:r>
              <a:rPr b="0" lang="en-IN" sz="1600">
                <a:solidFill>
                  <a:srgbClr val="14213D"/>
                </a:solidFill>
                <a:latin typeface="Times New Roman"/>
                <a:ea typeface="Times New Roman"/>
                <a:cs typeface="Times New Roman"/>
                <a:sym typeface="Times New Roman"/>
              </a:rPr>
              <a:t>how changing network speed and many clients affect video streaming.</a:t>
            </a:r>
            <a:endParaRPr sz="1600">
              <a:solidFill>
                <a:schemeClr val="dk1"/>
              </a:solidFill>
              <a:latin typeface="Times New Roman"/>
              <a:ea typeface="Times New Roman"/>
              <a:cs typeface="Times New Roman"/>
              <a:sym typeface="Times New Roman"/>
            </a:endParaRPr>
          </a:p>
        </p:txBody>
      </p:sp>
      <p:sp>
        <p:nvSpPr>
          <p:cNvPr id="157" name="Google Shape;157;p7"/>
          <p:cNvSpPr txBox="1"/>
          <p:nvPr/>
        </p:nvSpPr>
        <p:spPr>
          <a:xfrm>
            <a:off x="1024128" y="1691640"/>
            <a:ext cx="6565392" cy="603504"/>
          </a:xfrm>
          <a:prstGeom prst="rect">
            <a:avLst/>
          </a:prstGeom>
          <a:noFill/>
          <a:ln>
            <a:noFill/>
          </a:ln>
        </p:spPr>
        <p:txBody>
          <a:bodyPr anchorCtr="0" anchor="ctr" bIns="0" lIns="0" spcFirstLastPara="1" rIns="0" wrap="square" tIns="0">
            <a:noAutofit/>
          </a:bodyPr>
          <a:lstStyle/>
          <a:p>
            <a:pPr indent="-285750" lvl="0" marL="285750" marR="0" rtl="0" algn="l">
              <a:spcBef>
                <a:spcPts val="0"/>
              </a:spcBef>
              <a:spcAft>
                <a:spcPts val="0"/>
              </a:spcAft>
              <a:buClr>
                <a:srgbClr val="14213D"/>
              </a:buClr>
              <a:buSzPts val="1600"/>
              <a:buFont typeface="Arial"/>
              <a:buChar char="•"/>
            </a:pPr>
            <a:r>
              <a:rPr b="1" lang="en-IN" sz="1600">
                <a:solidFill>
                  <a:srgbClr val="14213D"/>
                </a:solidFill>
                <a:latin typeface="Times New Roman"/>
                <a:ea typeface="Times New Roman"/>
                <a:cs typeface="Times New Roman"/>
                <a:sym typeface="Times New Roman"/>
              </a:rPr>
              <a:t>To study </a:t>
            </a:r>
            <a:r>
              <a:rPr b="0" lang="en-IN" sz="1600">
                <a:solidFill>
                  <a:srgbClr val="14213D"/>
                </a:solidFill>
                <a:latin typeface="Times New Roman"/>
                <a:ea typeface="Times New Roman"/>
                <a:cs typeface="Times New Roman"/>
                <a:sym typeface="Times New Roman"/>
              </a:rPr>
              <a:t>the balance between video quality, smooth playback and network use.</a:t>
            </a:r>
            <a:endParaRPr sz="1600">
              <a:solidFill>
                <a:schemeClr val="dk1"/>
              </a:solidFill>
              <a:latin typeface="Times New Roman"/>
              <a:ea typeface="Times New Roman"/>
              <a:cs typeface="Times New Roman"/>
              <a:sym typeface="Times New Roman"/>
            </a:endParaRPr>
          </a:p>
        </p:txBody>
      </p:sp>
      <p:sp>
        <p:nvSpPr>
          <p:cNvPr id="158" name="Google Shape;158;p7"/>
          <p:cNvSpPr txBox="1"/>
          <p:nvPr/>
        </p:nvSpPr>
        <p:spPr>
          <a:xfrm>
            <a:off x="1024128" y="2423160"/>
            <a:ext cx="6428232" cy="603504"/>
          </a:xfrm>
          <a:prstGeom prst="rect">
            <a:avLst/>
          </a:prstGeom>
          <a:noFill/>
          <a:ln>
            <a:noFill/>
          </a:ln>
        </p:spPr>
        <p:txBody>
          <a:bodyPr anchorCtr="0" anchor="ctr" bIns="0" lIns="0" spcFirstLastPara="1" rIns="0" wrap="square" tIns="0">
            <a:noAutofit/>
          </a:bodyPr>
          <a:lstStyle/>
          <a:p>
            <a:pPr indent="-285750" lvl="0" marL="285750" marR="0" rtl="0" algn="l">
              <a:spcBef>
                <a:spcPts val="0"/>
              </a:spcBef>
              <a:spcAft>
                <a:spcPts val="0"/>
              </a:spcAft>
              <a:buClr>
                <a:srgbClr val="14213D"/>
              </a:buClr>
              <a:buSzPts val="1600"/>
              <a:buFont typeface="Arial"/>
              <a:buChar char="•"/>
            </a:pPr>
            <a:r>
              <a:rPr b="1" lang="en-IN" sz="1600">
                <a:solidFill>
                  <a:srgbClr val="14213D"/>
                </a:solidFill>
                <a:latin typeface="Times New Roman"/>
                <a:ea typeface="Times New Roman"/>
                <a:cs typeface="Times New Roman"/>
                <a:sym typeface="Times New Roman"/>
              </a:rPr>
              <a:t>To develop </a:t>
            </a:r>
            <a:r>
              <a:rPr b="0" lang="en-IN" sz="1600">
                <a:solidFill>
                  <a:srgbClr val="14213D"/>
                </a:solidFill>
                <a:latin typeface="Times New Roman"/>
                <a:ea typeface="Times New Roman"/>
                <a:cs typeface="Times New Roman"/>
                <a:sym typeface="Times New Roman"/>
              </a:rPr>
              <a:t>a system where each client picks its own video quality automatically, without manual help.</a:t>
            </a:r>
            <a:endParaRPr sz="1600">
              <a:solidFill>
                <a:schemeClr val="dk1"/>
              </a:solidFill>
              <a:latin typeface="Times New Roman"/>
              <a:ea typeface="Times New Roman"/>
              <a:cs typeface="Times New Roman"/>
              <a:sym typeface="Times New Roman"/>
            </a:endParaRPr>
          </a:p>
        </p:txBody>
      </p:sp>
      <p:sp>
        <p:nvSpPr>
          <p:cNvPr id="159" name="Google Shape;159;p7"/>
          <p:cNvSpPr txBox="1"/>
          <p:nvPr/>
        </p:nvSpPr>
        <p:spPr>
          <a:xfrm>
            <a:off x="1024128" y="3154680"/>
            <a:ext cx="6336792" cy="603504"/>
          </a:xfrm>
          <a:prstGeom prst="rect">
            <a:avLst/>
          </a:prstGeom>
          <a:noFill/>
          <a:ln>
            <a:noFill/>
          </a:ln>
        </p:spPr>
        <p:txBody>
          <a:bodyPr anchorCtr="0" anchor="ctr" bIns="0" lIns="0" spcFirstLastPara="1" rIns="0" wrap="square" tIns="0">
            <a:noAutofit/>
          </a:bodyPr>
          <a:lstStyle/>
          <a:p>
            <a:pPr indent="-285750" lvl="0" marL="285750" marR="0" rtl="0" algn="l">
              <a:spcBef>
                <a:spcPts val="0"/>
              </a:spcBef>
              <a:spcAft>
                <a:spcPts val="0"/>
              </a:spcAft>
              <a:buClr>
                <a:srgbClr val="14213D"/>
              </a:buClr>
              <a:buSzPts val="1600"/>
              <a:buFont typeface="Arial"/>
              <a:buChar char="•"/>
            </a:pPr>
            <a:r>
              <a:rPr b="1" lang="en-IN" sz="1600">
                <a:solidFill>
                  <a:srgbClr val="14213D"/>
                </a:solidFill>
                <a:latin typeface="Times New Roman"/>
                <a:ea typeface="Times New Roman"/>
                <a:cs typeface="Times New Roman"/>
                <a:sym typeface="Times New Roman"/>
              </a:rPr>
              <a:t>To handle </a:t>
            </a:r>
            <a:r>
              <a:rPr b="0" lang="en-IN" sz="1600">
                <a:solidFill>
                  <a:srgbClr val="14213D"/>
                </a:solidFill>
                <a:latin typeface="Times New Roman"/>
                <a:ea typeface="Times New Roman"/>
                <a:cs typeface="Times New Roman"/>
                <a:sym typeface="Times New Roman"/>
              </a:rPr>
              <a:t>many client requests together and reduce server load using server-side caching.</a:t>
            </a:r>
            <a:endParaRPr sz="1600">
              <a:solidFill>
                <a:schemeClr val="dk1"/>
              </a:solidFill>
              <a:latin typeface="Times New Roman"/>
              <a:ea typeface="Times New Roman"/>
              <a:cs typeface="Times New Roman"/>
              <a:sym typeface="Times New Roman"/>
            </a:endParaRPr>
          </a:p>
        </p:txBody>
      </p:sp>
      <p:sp>
        <p:nvSpPr>
          <p:cNvPr id="160" name="Google Shape;160;p7"/>
          <p:cNvSpPr txBox="1"/>
          <p:nvPr/>
        </p:nvSpPr>
        <p:spPr>
          <a:xfrm>
            <a:off x="1024128" y="3886200"/>
            <a:ext cx="6759702" cy="603504"/>
          </a:xfrm>
          <a:prstGeom prst="rect">
            <a:avLst/>
          </a:prstGeom>
          <a:noFill/>
          <a:ln>
            <a:noFill/>
          </a:ln>
        </p:spPr>
        <p:txBody>
          <a:bodyPr anchorCtr="0" anchor="ctr" bIns="0" lIns="0" spcFirstLastPara="1" rIns="0" wrap="square" tIns="0">
            <a:noAutofit/>
          </a:bodyPr>
          <a:lstStyle/>
          <a:p>
            <a:pPr indent="-285750" lvl="0" marL="285750" marR="0" rtl="0" algn="l">
              <a:spcBef>
                <a:spcPts val="0"/>
              </a:spcBef>
              <a:spcAft>
                <a:spcPts val="0"/>
              </a:spcAft>
              <a:buClr>
                <a:srgbClr val="14213D"/>
              </a:buClr>
              <a:buSzPts val="1600"/>
              <a:buFont typeface="Arial"/>
              <a:buChar char="•"/>
            </a:pPr>
            <a:r>
              <a:rPr b="1" lang="en-IN" sz="1600">
                <a:solidFill>
                  <a:srgbClr val="14213D"/>
                </a:solidFill>
                <a:latin typeface="Times New Roman"/>
                <a:ea typeface="Times New Roman"/>
                <a:cs typeface="Times New Roman"/>
                <a:sym typeface="Times New Roman"/>
              </a:rPr>
              <a:t>To assess </a:t>
            </a:r>
            <a:r>
              <a:rPr b="0" lang="en-IN" sz="1600">
                <a:solidFill>
                  <a:srgbClr val="14213D"/>
                </a:solidFill>
                <a:latin typeface="Times New Roman"/>
                <a:ea typeface="Times New Roman"/>
                <a:cs typeface="Times New Roman"/>
                <a:sym typeface="Times New Roman"/>
              </a:rPr>
              <a:t>system behaviour for many clients using metrics like rebuffering, bitrate, switches and cache hits.</a:t>
            </a:r>
            <a:endParaRPr sz="1600">
              <a:solidFill>
                <a:schemeClr val="dk1"/>
              </a:solidFill>
              <a:latin typeface="Times New Roman"/>
              <a:ea typeface="Times New Roman"/>
              <a:cs typeface="Times New Roman"/>
              <a:sym typeface="Times New Roman"/>
            </a:endParaRPr>
          </a:p>
        </p:txBody>
      </p:sp>
      <p:sp>
        <p:nvSpPr>
          <p:cNvPr id="161" name="Google Shape;161;p7"/>
          <p:cNvSpPr txBox="1"/>
          <p:nvPr/>
        </p:nvSpPr>
        <p:spPr>
          <a:xfrm>
            <a:off x="2286000" y="2387846"/>
            <a:ext cx="4572000" cy="33855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b="0" lang="en-I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p:txBody>
      </p:sp>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type="title"/>
          </p:nvPr>
        </p:nvSpPr>
        <p:spPr>
          <a:xfrm>
            <a:off x="300735" y="2842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167" name="Google Shape;167;p8"/>
          <p:cNvCxnSpPr/>
          <p:nvPr/>
        </p:nvCxnSpPr>
        <p:spPr>
          <a:xfrm flipH="1" rot="10800000">
            <a:off x="331177" y="732010"/>
            <a:ext cx="8196493" cy="8603"/>
          </a:xfrm>
          <a:prstGeom prst="straightConnector1">
            <a:avLst/>
          </a:prstGeom>
          <a:noFill/>
          <a:ln cap="flat" cmpd="sng" w="12700">
            <a:solidFill>
              <a:schemeClr val="accent2"/>
            </a:solidFill>
            <a:prstDash val="solid"/>
            <a:miter lim="8000"/>
            <a:headEnd len="sm" w="sm" type="none"/>
            <a:tailEnd len="sm" w="sm" type="none"/>
          </a:ln>
        </p:spPr>
      </p:cxnSp>
      <p:pic>
        <p:nvPicPr>
          <p:cNvPr id="168" name="Google Shape;168;p8"/>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169" name="Google Shape;169;p8"/>
          <p:cNvSpPr txBox="1"/>
          <p:nvPr/>
        </p:nvSpPr>
        <p:spPr>
          <a:xfrm>
            <a:off x="331177" y="104945"/>
            <a:ext cx="630415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200"/>
              <a:buFont typeface="Times New Roman"/>
              <a:buNone/>
            </a:pPr>
            <a:r>
              <a:rPr b="1" lang="en-IN" sz="3200">
                <a:solidFill>
                  <a:schemeClr val="dk1"/>
                </a:solidFill>
                <a:latin typeface="Times New Roman"/>
                <a:ea typeface="Times New Roman"/>
                <a:cs typeface="Times New Roman"/>
                <a:sym typeface="Times New Roman"/>
              </a:rPr>
              <a:t>Technical Feasibility</a:t>
            </a:r>
            <a:endParaRPr/>
          </a:p>
        </p:txBody>
      </p:sp>
      <p:sp>
        <p:nvSpPr>
          <p:cNvPr id="170" name="Google Shape;170;p8"/>
          <p:cNvSpPr txBox="1"/>
          <p:nvPr/>
        </p:nvSpPr>
        <p:spPr>
          <a:xfrm>
            <a:off x="300735" y="1036215"/>
            <a:ext cx="42291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71" name="Google Shape;171;p8"/>
          <p:cNvSpPr txBox="1"/>
          <p:nvPr/>
        </p:nvSpPr>
        <p:spPr>
          <a:xfrm>
            <a:off x="4747504" y="994961"/>
            <a:ext cx="40951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aphicFrame>
        <p:nvGraphicFramePr>
          <p:cNvPr id="172" name="Google Shape;172;p8"/>
          <p:cNvGraphicFramePr/>
          <p:nvPr/>
        </p:nvGraphicFramePr>
        <p:xfrm>
          <a:off x="576039" y="1104564"/>
          <a:ext cx="3000000" cy="3000000"/>
        </p:xfrm>
        <a:graphic>
          <a:graphicData uri="http://schemas.openxmlformats.org/drawingml/2006/table">
            <a:tbl>
              <a:tblPr>
                <a:noFill/>
                <a:tableStyleId>{357E4A72-1A30-4132-B10C-302D43076DB2}</a:tableStyleId>
              </a:tblPr>
              <a:tblGrid>
                <a:gridCol w="2328650"/>
                <a:gridCol w="6015575"/>
              </a:tblGrid>
              <a:tr h="319725">
                <a:tc>
                  <a:txBody>
                    <a:bodyPr/>
                    <a:lstStyle/>
                    <a:p>
                      <a:pPr indent="0" lvl="0" marL="0" marR="0" rtl="0" algn="l">
                        <a:lnSpc>
                          <a:spcPct val="115000"/>
                        </a:lnSpc>
                        <a:spcBef>
                          <a:spcPts val="0"/>
                        </a:spcBef>
                        <a:spcAft>
                          <a:spcPts val="0"/>
                        </a:spcAft>
                        <a:buClr>
                          <a:schemeClr val="dk1"/>
                        </a:buClr>
                        <a:buSzPts val="1600"/>
                        <a:buFont typeface="Times New Roman"/>
                        <a:buNone/>
                      </a:pPr>
                      <a:r>
                        <a:rPr b="1" lang="en-IN" sz="1600" u="none" cap="none" strike="noStrike">
                          <a:latin typeface="Times New Roman"/>
                          <a:ea typeface="Times New Roman"/>
                          <a:cs typeface="Times New Roman"/>
                          <a:sym typeface="Times New Roman"/>
                        </a:rPr>
                        <a:t>Foundation Course</a:t>
                      </a:r>
                      <a:endParaRPr b="1" sz="2000" u="none" cap="none" strike="noStrike">
                        <a:latin typeface="Times New Roman"/>
                        <a:ea typeface="Times New Roman"/>
                        <a:cs typeface="Times New Roman"/>
                        <a:sym typeface="Times New Roman"/>
                      </a:endParaRPr>
                    </a:p>
                  </a:txBody>
                  <a:tcPr marT="38100" marB="38100" marR="63500" marL="63500" anchor="ctr">
                    <a:solidFill>
                      <a:srgbClr val="AAE571"/>
                    </a:solidFill>
                  </a:tcPr>
                </a:tc>
                <a:tc>
                  <a:txBody>
                    <a:bodyPr/>
                    <a:lstStyle/>
                    <a:p>
                      <a:pPr indent="0" lvl="0" marL="0" marR="0" rtl="0" algn="l">
                        <a:lnSpc>
                          <a:spcPct val="115000"/>
                        </a:lnSpc>
                        <a:spcBef>
                          <a:spcPts val="0"/>
                        </a:spcBef>
                        <a:spcAft>
                          <a:spcPts val="0"/>
                        </a:spcAft>
                        <a:buClr>
                          <a:schemeClr val="dk1"/>
                        </a:buClr>
                        <a:buSzPts val="1600"/>
                        <a:buFont typeface="Times New Roman"/>
                        <a:buNone/>
                      </a:pPr>
                      <a:r>
                        <a:rPr b="1" lang="en-IN" sz="1600" u="none" cap="none" strike="noStrike">
                          <a:latin typeface="Times New Roman"/>
                          <a:ea typeface="Times New Roman"/>
                          <a:cs typeface="Times New Roman"/>
                          <a:sym typeface="Times New Roman"/>
                        </a:rPr>
                        <a:t>Concepts</a:t>
                      </a:r>
                      <a:endParaRPr b="1" sz="2000" u="none" cap="none" strike="noStrike">
                        <a:latin typeface="Times New Roman"/>
                        <a:ea typeface="Times New Roman"/>
                        <a:cs typeface="Times New Roman"/>
                        <a:sym typeface="Times New Roman"/>
                      </a:endParaRPr>
                    </a:p>
                  </a:txBody>
                  <a:tcPr marT="38100" marB="38100" marR="63500" marL="63500" anchor="ctr">
                    <a:lnB cap="flat" cmpd="sng" w="9525">
                      <a:solidFill>
                        <a:srgbClr val="000000"/>
                      </a:solidFill>
                      <a:prstDash val="solid"/>
                      <a:round/>
                      <a:headEnd len="sm" w="sm" type="none"/>
                      <a:tailEnd len="sm" w="sm" type="none"/>
                    </a:lnB>
                    <a:solidFill>
                      <a:srgbClr val="AAE571"/>
                    </a:solidFill>
                  </a:tcPr>
                </a:tc>
              </a:tr>
              <a:tr h="516875">
                <a:tc>
                  <a:txBody>
                    <a:bodyPr/>
                    <a:lstStyle/>
                    <a:p>
                      <a:pPr indent="0" lvl="0" marL="0" marR="0" rtl="0" algn="l">
                        <a:lnSpc>
                          <a:spcPct val="115000"/>
                        </a:lnSpc>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Computer Networks</a:t>
                      </a:r>
                      <a:endParaRPr sz="1800" u="none" cap="none" strike="noStrike">
                        <a:latin typeface="Times New Roman"/>
                        <a:ea typeface="Times New Roman"/>
                        <a:cs typeface="Times New Roman"/>
                        <a:sym typeface="Times New Roman"/>
                      </a:endParaRPr>
                    </a:p>
                  </a:txBody>
                  <a:tcPr marT="38100" marB="38100" marR="63500" marL="63500" anchor="ctr">
                    <a:lnR cap="flat" cmpd="sng" w="9525">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1000"/>
                        </a:spcAft>
                        <a:buNone/>
                      </a:pPr>
                      <a:r>
                        <a:rPr lang="en-IN" sz="1100">
                          <a:solidFill>
                            <a:schemeClr val="dk1"/>
                          </a:solidFill>
                        </a:rPr>
                        <a:t>Sockets, TCP and HTTP, packets, bandwidth, delay (latency), throughput, client-server communication</a:t>
                      </a:r>
                      <a:endParaRPr sz="1300"/>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6875">
                <a:tc>
                  <a:txBody>
                    <a:bodyPr/>
                    <a:lstStyle/>
                    <a:p>
                      <a:pPr indent="0" lvl="0" marL="0" marR="0" rtl="0" algn="l">
                        <a:lnSpc>
                          <a:spcPct val="115000"/>
                        </a:lnSpc>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Operating Systems</a:t>
                      </a:r>
                      <a:endParaRPr sz="1800" u="none" cap="none" strike="noStrike">
                        <a:latin typeface="Times New Roman"/>
                        <a:ea typeface="Times New Roman"/>
                        <a:cs typeface="Times New Roman"/>
                        <a:sym typeface="Times New Roman"/>
                      </a:endParaRPr>
                    </a:p>
                  </a:txBody>
                  <a:tcPr marT="38100" marB="38100" marR="63500" marL="63500" anchor="ctr"/>
                </a:tc>
                <a:tc>
                  <a:txBody>
                    <a:bodyPr/>
                    <a:lstStyle/>
                    <a:p>
                      <a:pPr indent="0" lvl="0" marL="0" marR="0" rtl="0" algn="l">
                        <a:lnSpc>
                          <a:spcPct val="115000"/>
                        </a:lnSpc>
                        <a:spcBef>
                          <a:spcPts val="0"/>
                        </a:spcBef>
                        <a:spcAft>
                          <a:spcPts val="0"/>
                        </a:spcAft>
                        <a:buClr>
                          <a:schemeClr val="dk1"/>
                        </a:buClr>
                        <a:buSzPts val="1400"/>
                        <a:buFont typeface="Times New Roman"/>
                        <a:buNone/>
                      </a:pPr>
                      <a:r>
                        <a:rPr lang="en-IN" sz="1100">
                          <a:solidFill>
                            <a:schemeClr val="dk1"/>
                          </a:solidFill>
                        </a:rPr>
                        <a:t>Processes and threads (serve many clients), synchronization (locks, so threads share the cache safely), memory, cache</a:t>
                      </a:r>
                      <a:endParaRPr sz="2200" u="none" cap="none" strike="noStrike">
                        <a:latin typeface="Times New Roman"/>
                        <a:ea typeface="Times New Roman"/>
                        <a:cs typeface="Times New Roman"/>
                        <a:sym typeface="Times New Roman"/>
                      </a:endParaRPr>
                    </a:p>
                  </a:txBody>
                  <a:tcPr marT="38100" marB="38100" marR="63500" marL="63500" anchor="ctr">
                    <a:lnT cap="flat" cmpd="sng" w="9525">
                      <a:solidFill>
                        <a:srgbClr val="000000"/>
                      </a:solidFill>
                      <a:prstDash val="solid"/>
                      <a:round/>
                      <a:headEnd len="sm" w="sm" type="none"/>
                      <a:tailEnd len="sm" w="sm" type="none"/>
                    </a:lnT>
                  </a:tcPr>
                </a:tc>
              </a:tr>
              <a:tr h="580375">
                <a:tc>
                  <a:txBody>
                    <a:bodyPr/>
                    <a:lstStyle/>
                    <a:p>
                      <a:pPr indent="0" lvl="0" marL="0" marR="0" rtl="0" algn="l">
                        <a:lnSpc>
                          <a:spcPct val="115000"/>
                        </a:lnSpc>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Data Structures &amp; Algorithms</a:t>
                      </a:r>
                      <a:endParaRPr sz="1800" u="none" cap="none" strike="noStrike">
                        <a:latin typeface="Times New Roman"/>
                        <a:ea typeface="Times New Roman"/>
                        <a:cs typeface="Times New Roman"/>
                        <a:sym typeface="Times New Roman"/>
                      </a:endParaRPr>
                    </a:p>
                  </a:txBody>
                  <a:tcPr marT="38100" marB="38100" marR="63500" marL="63500" anchor="ctr"/>
                </a:tc>
                <a:tc>
                  <a:txBody>
                    <a:bodyPr/>
                    <a:lstStyle/>
                    <a:p>
                      <a:pPr indent="0" lvl="0" marL="0" marR="0" rtl="0" algn="l">
                        <a:lnSpc>
                          <a:spcPct val="115000"/>
                        </a:lnSpc>
                        <a:spcBef>
                          <a:spcPts val="0"/>
                        </a:spcBef>
                        <a:spcAft>
                          <a:spcPts val="0"/>
                        </a:spcAft>
                        <a:buClr>
                          <a:schemeClr val="dk1"/>
                        </a:buClr>
                        <a:buSzPts val="1400"/>
                        <a:buFont typeface="Times New Roman"/>
                        <a:buNone/>
                      </a:pPr>
                      <a:r>
                        <a:rPr lang="en-IN" sz="1100" u="none" cap="none" strike="noStrike">
                          <a:latin typeface="Times New Roman"/>
                          <a:ea typeface="Times New Roman"/>
                          <a:cs typeface="Times New Roman"/>
                          <a:sym typeface="Times New Roman"/>
                        </a:rPr>
                        <a:t>Queues (buffer), hash tables (cache lookup), heaps (request order), moving average (speed estimate)</a:t>
                      </a:r>
                      <a:endParaRPr sz="2200" u="none" cap="none" strike="noStrike">
                        <a:latin typeface="Times New Roman"/>
                        <a:ea typeface="Times New Roman"/>
                        <a:cs typeface="Times New Roman"/>
                        <a:sym typeface="Times New Roman"/>
                      </a:endParaRPr>
                    </a:p>
                  </a:txBody>
                  <a:tcPr marT="38100" marB="38100" marR="63500" marL="63500" anchor="ctr"/>
                </a:tc>
              </a:tr>
            </a:tbl>
          </a:graphicData>
        </a:graphic>
      </p:graphicFrame>
      <p:graphicFrame>
        <p:nvGraphicFramePr>
          <p:cNvPr id="173" name="Google Shape;173;p8"/>
          <p:cNvGraphicFramePr/>
          <p:nvPr/>
        </p:nvGraphicFramePr>
        <p:xfrm>
          <a:off x="575395" y="3527505"/>
          <a:ext cx="3000000" cy="3000000"/>
        </p:xfrm>
        <a:graphic>
          <a:graphicData uri="http://schemas.openxmlformats.org/drawingml/2006/table">
            <a:tbl>
              <a:tblPr>
                <a:noFill/>
                <a:tableStyleId>{357E4A72-1A30-4132-B10C-302D43076DB2}</a:tableStyleId>
              </a:tblPr>
              <a:tblGrid>
                <a:gridCol w="2328650"/>
                <a:gridCol w="6015575"/>
              </a:tblGrid>
              <a:tr h="203200">
                <a:tc>
                  <a:txBody>
                    <a:bodyPr/>
                    <a:lstStyle/>
                    <a:p>
                      <a:pPr indent="0" lvl="0" marL="0" marR="0" rtl="0" algn="l">
                        <a:lnSpc>
                          <a:spcPct val="115000"/>
                        </a:lnSpc>
                        <a:spcBef>
                          <a:spcPts val="0"/>
                        </a:spcBef>
                        <a:spcAft>
                          <a:spcPts val="0"/>
                        </a:spcAft>
                        <a:buClr>
                          <a:schemeClr val="dk1"/>
                        </a:buClr>
                        <a:buSzPts val="1600"/>
                        <a:buFont typeface="Times New Roman"/>
                        <a:buNone/>
                      </a:pPr>
                      <a:r>
                        <a:rPr b="1" lang="en-IN" sz="1600" u="none" cap="none" strike="noStrike">
                          <a:latin typeface="Times New Roman"/>
                          <a:ea typeface="Times New Roman"/>
                          <a:cs typeface="Times New Roman"/>
                          <a:sym typeface="Times New Roman"/>
                        </a:rPr>
                        <a:t>Foundation Course</a:t>
                      </a:r>
                      <a:endParaRPr b="1" sz="2000" u="none" cap="none" strike="noStrike">
                        <a:latin typeface="Times New Roman"/>
                        <a:ea typeface="Times New Roman"/>
                        <a:cs typeface="Times New Roman"/>
                        <a:sym typeface="Times New Roman"/>
                      </a:endParaRPr>
                    </a:p>
                  </a:txBody>
                  <a:tcPr marT="38100" marB="38100" marR="63500" marL="63500" anchor="ctr">
                    <a:solidFill>
                      <a:srgbClr val="AAE571"/>
                    </a:solidFill>
                  </a:tcPr>
                </a:tc>
                <a:tc>
                  <a:txBody>
                    <a:bodyPr/>
                    <a:lstStyle/>
                    <a:p>
                      <a:pPr indent="0" lvl="0" marL="0" marR="0" rtl="0" algn="l">
                        <a:lnSpc>
                          <a:spcPct val="115000"/>
                        </a:lnSpc>
                        <a:spcBef>
                          <a:spcPts val="0"/>
                        </a:spcBef>
                        <a:spcAft>
                          <a:spcPts val="0"/>
                        </a:spcAft>
                        <a:buClr>
                          <a:schemeClr val="dk1"/>
                        </a:buClr>
                        <a:buSzPts val="1600"/>
                        <a:buFont typeface="Times New Roman"/>
                        <a:buNone/>
                      </a:pPr>
                      <a:r>
                        <a:rPr b="1" lang="en-IN" sz="1600" u="none" cap="none" strike="noStrike">
                          <a:latin typeface="Times New Roman"/>
                          <a:ea typeface="Times New Roman"/>
                          <a:cs typeface="Times New Roman"/>
                          <a:sym typeface="Times New Roman"/>
                        </a:rPr>
                        <a:t>Concepts</a:t>
                      </a:r>
                      <a:endParaRPr b="1" sz="2000" u="none" cap="none" strike="noStrike">
                        <a:latin typeface="Times New Roman"/>
                        <a:ea typeface="Times New Roman"/>
                        <a:cs typeface="Times New Roman"/>
                        <a:sym typeface="Times New Roman"/>
                      </a:endParaRPr>
                    </a:p>
                  </a:txBody>
                  <a:tcPr marT="38100" marB="38100" marR="63500" marL="63500" anchor="ctr">
                    <a:solidFill>
                      <a:srgbClr val="AAE571"/>
                    </a:solidFill>
                  </a:tcPr>
                </a:tc>
              </a:tr>
              <a:tr h="433750">
                <a:tc>
                  <a:txBody>
                    <a:bodyPr/>
                    <a:lstStyle/>
                    <a:p>
                      <a:pPr indent="0" lvl="0" marL="0" marR="0" rtl="0" algn="l">
                        <a:lnSpc>
                          <a:spcPct val="115000"/>
                        </a:lnSpc>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Software Engineering &amp; SDLC</a:t>
                      </a:r>
                      <a:endParaRPr sz="1800" u="none" cap="none" strike="noStrike">
                        <a:latin typeface="Times New Roman"/>
                        <a:ea typeface="Times New Roman"/>
                        <a:cs typeface="Times New Roman"/>
                        <a:sym typeface="Times New Roman"/>
                      </a:endParaRPr>
                    </a:p>
                  </a:txBody>
                  <a:tcPr marT="38100" marB="38100" marR="63500" marL="63500" anchor="ctr"/>
                </a:tc>
                <a:tc>
                  <a:txBody>
                    <a:bodyPr/>
                    <a:lstStyle/>
                    <a:p>
                      <a:pPr indent="0" lvl="0" marL="0" marR="0" rtl="0" algn="l">
                        <a:lnSpc>
                          <a:spcPct val="115000"/>
                        </a:lnSpc>
                        <a:spcBef>
                          <a:spcPts val="0"/>
                        </a:spcBef>
                        <a:spcAft>
                          <a:spcPts val="0"/>
                        </a:spcAft>
                        <a:buClr>
                          <a:schemeClr val="dk1"/>
                        </a:buClr>
                        <a:buSzPts val="1400"/>
                        <a:buFont typeface="Times New Roman"/>
                        <a:buNone/>
                      </a:pPr>
                      <a:r>
                        <a:rPr lang="en-IN" sz="1100" u="none" cap="none" strike="noStrike">
                          <a:latin typeface="Times New Roman"/>
                          <a:ea typeface="Times New Roman"/>
                          <a:cs typeface="Times New Roman"/>
                          <a:sym typeface="Times New Roman"/>
                        </a:rPr>
                        <a:t>Client-server design, requirements, use cases and testing</a:t>
                      </a:r>
                      <a:endParaRPr sz="1800" u="none" cap="none" strike="noStrike">
                        <a:latin typeface="Times New Roman"/>
                        <a:ea typeface="Times New Roman"/>
                        <a:cs typeface="Times New Roman"/>
                        <a:sym typeface="Times New Roman"/>
                      </a:endParaRPr>
                    </a:p>
                  </a:txBody>
                  <a:tcPr marT="38100" marB="38100" marR="63500" marL="63500" anchor="ctr"/>
                </a:tc>
              </a:tr>
              <a:tr h="433750">
                <a:tc>
                  <a:txBody>
                    <a:bodyPr/>
                    <a:lstStyle/>
                    <a:p>
                      <a:pPr indent="0" lvl="0" marL="0" marR="0" rtl="0" algn="l">
                        <a:lnSpc>
                          <a:spcPct val="115000"/>
                        </a:lnSpc>
                        <a:spcBef>
                          <a:spcPts val="0"/>
                        </a:spcBef>
                        <a:spcAft>
                          <a:spcPts val="0"/>
                        </a:spcAft>
                        <a:buClr>
                          <a:schemeClr val="dk1"/>
                        </a:buClr>
                        <a:buSzPts val="1400"/>
                        <a:buFont typeface="Times New Roman"/>
                        <a:buNone/>
                      </a:pPr>
                      <a:r>
                        <a:rPr lang="en-IN" sz="1400" u="none" cap="none" strike="noStrike">
                          <a:latin typeface="Times New Roman"/>
                          <a:ea typeface="Times New Roman"/>
                          <a:cs typeface="Times New Roman"/>
                          <a:sym typeface="Times New Roman"/>
                        </a:rPr>
                        <a:t>Database Management Systems</a:t>
                      </a:r>
                      <a:endParaRPr sz="1800" u="none" cap="none" strike="noStrike">
                        <a:latin typeface="Times New Roman"/>
                        <a:ea typeface="Times New Roman"/>
                        <a:cs typeface="Times New Roman"/>
                        <a:sym typeface="Times New Roman"/>
                      </a:endParaRPr>
                    </a:p>
                  </a:txBody>
                  <a:tcPr marT="38100" marB="38100" marR="63500" marL="63500" anchor="ctr"/>
                </a:tc>
                <a:tc>
                  <a:txBody>
                    <a:bodyPr/>
                    <a:lstStyle/>
                    <a:p>
                      <a:pPr indent="0" lvl="0" marL="0" marR="0" rtl="0" algn="l">
                        <a:lnSpc>
                          <a:spcPct val="115000"/>
                        </a:lnSpc>
                        <a:spcBef>
                          <a:spcPts val="0"/>
                        </a:spcBef>
                        <a:spcAft>
                          <a:spcPts val="0"/>
                        </a:spcAft>
                        <a:buClr>
                          <a:schemeClr val="dk1"/>
                        </a:buClr>
                        <a:buSzPts val="1400"/>
                        <a:buFont typeface="Times New Roman"/>
                        <a:buNone/>
                      </a:pPr>
                      <a:r>
                        <a:rPr lang="en-IN" sz="1100" u="none" cap="none" strike="noStrike">
                          <a:latin typeface="Times New Roman"/>
                          <a:ea typeface="Times New Roman"/>
                          <a:cs typeface="Times New Roman"/>
                          <a:sym typeface="Times New Roman"/>
                        </a:rPr>
                        <a:t>Stores logs, test results and cache data</a:t>
                      </a:r>
                      <a:endParaRPr sz="1800" u="none" cap="none" strike="noStrike">
                        <a:latin typeface="Times New Roman"/>
                        <a:ea typeface="Times New Roman"/>
                        <a:cs typeface="Times New Roman"/>
                        <a:sym typeface="Times New Roman"/>
                      </a:endParaRPr>
                    </a:p>
                  </a:txBody>
                  <a:tcPr marT="38100" marB="38100" marR="63500" marL="63500" anchor="ctr"/>
                </a:tc>
              </a:tr>
            </a:tbl>
          </a:graphicData>
        </a:graphic>
      </p:graphicFrame>
      <p:sp>
        <p:nvSpPr>
          <p:cNvPr id="174" name="Google Shape;174;p8"/>
          <p:cNvSpPr txBox="1"/>
          <p:nvPr/>
        </p:nvSpPr>
        <p:spPr>
          <a:xfrm>
            <a:off x="254449" y="740613"/>
            <a:ext cx="4572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lang="en-IN" sz="1800">
                <a:solidFill>
                  <a:schemeClr val="dk1"/>
                </a:solidFill>
                <a:latin typeface="Times New Roman"/>
                <a:ea typeface="Times New Roman"/>
                <a:cs typeface="Times New Roman"/>
                <a:sym typeface="Times New Roman"/>
              </a:rPr>
              <a:t>Foundation Courses &amp; Concepts</a:t>
            </a:r>
            <a:endParaRPr/>
          </a:p>
        </p:txBody>
      </p:sp>
      <p:sp>
        <p:nvSpPr>
          <p:cNvPr id="175" name="Google Shape;175;p8"/>
          <p:cNvSpPr txBox="1"/>
          <p:nvPr/>
        </p:nvSpPr>
        <p:spPr>
          <a:xfrm>
            <a:off x="224387" y="3091623"/>
            <a:ext cx="582353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Times New Roman"/>
                <a:ea typeface="Times New Roman"/>
                <a:cs typeface="Times New Roman"/>
                <a:sym typeface="Times New Roman"/>
              </a:rPr>
              <a:t>Supporting Foundation Courses &amp; Concepts</a:t>
            </a:r>
            <a:endParaRPr sz="1800">
              <a:solidFill>
                <a:srgbClr val="2F5496"/>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76" name="Google Shape;176;p8"/>
          <p:cNvSpPr txBox="1"/>
          <p:nvPr/>
        </p:nvSpPr>
        <p:spPr>
          <a:xfrm>
            <a:off x="7799925" y="1714500"/>
            <a:ext cx="1365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txBox="1"/>
          <p:nvPr>
            <p:ph type="title"/>
          </p:nvPr>
        </p:nvSpPr>
        <p:spPr>
          <a:xfrm>
            <a:off x="300735" y="2842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182" name="Google Shape;182;p9"/>
          <p:cNvCxnSpPr/>
          <p:nvPr/>
        </p:nvCxnSpPr>
        <p:spPr>
          <a:xfrm flipH="1" rot="10800000">
            <a:off x="438615" y="897527"/>
            <a:ext cx="8058614" cy="17444"/>
          </a:xfrm>
          <a:prstGeom prst="straightConnector1">
            <a:avLst/>
          </a:prstGeom>
          <a:noFill/>
          <a:ln cap="flat" cmpd="sng" w="12700">
            <a:solidFill>
              <a:schemeClr val="accent2"/>
            </a:solidFill>
            <a:prstDash val="solid"/>
            <a:miter lim="8000"/>
            <a:headEnd len="sm" w="sm" type="none"/>
            <a:tailEnd len="sm" w="sm" type="none"/>
          </a:ln>
        </p:spPr>
      </p:cxnSp>
      <p:pic>
        <p:nvPicPr>
          <p:cNvPr id="183" name="Google Shape;183;p9"/>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184" name="Google Shape;184;p9"/>
          <p:cNvSpPr txBox="1"/>
          <p:nvPr/>
        </p:nvSpPr>
        <p:spPr>
          <a:xfrm>
            <a:off x="300735" y="277864"/>
            <a:ext cx="630415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200"/>
              <a:buFont typeface="Times New Roman"/>
              <a:buNone/>
            </a:pPr>
            <a:r>
              <a:rPr b="1" lang="en-IN" sz="3200">
                <a:solidFill>
                  <a:schemeClr val="dk1"/>
                </a:solidFill>
                <a:latin typeface="Times New Roman"/>
                <a:ea typeface="Times New Roman"/>
                <a:cs typeface="Times New Roman"/>
                <a:sym typeface="Times New Roman"/>
              </a:rPr>
              <a:t>What's Included</a:t>
            </a:r>
            <a:endParaRPr/>
          </a:p>
        </p:txBody>
      </p:sp>
      <p:sp>
        <p:nvSpPr>
          <p:cNvPr id="185" name="Google Shape;185;p9"/>
          <p:cNvSpPr txBox="1"/>
          <p:nvPr/>
        </p:nvSpPr>
        <p:spPr>
          <a:xfrm>
            <a:off x="438614" y="991047"/>
            <a:ext cx="4533435" cy="38010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IN" sz="1800" u="sng">
                <a:solidFill>
                  <a:schemeClr val="dk1"/>
                </a:solidFill>
                <a:latin typeface="Times New Roman"/>
                <a:ea typeface="Times New Roman"/>
                <a:cs typeface="Times New Roman"/>
                <a:sym typeface="Times New Roman"/>
              </a:rPr>
              <a:t>In Scope</a:t>
            </a:r>
            <a:endParaRPr/>
          </a:p>
          <a:p>
            <a:pPr indent="-152400" lvl="0" marL="152400" marR="0" rtl="0" algn="l">
              <a:spcBef>
                <a:spcPts val="0"/>
              </a:spcBef>
              <a:spcAft>
                <a:spcPts val="0"/>
              </a:spcAft>
              <a:buClr>
                <a:srgbClr val="1F2937"/>
              </a:buClr>
              <a:buSzPts val="1800"/>
              <a:buFont typeface="Times New Roman"/>
              <a:buChar char="•"/>
            </a:pPr>
            <a:r>
              <a:rPr lang="en-IN" sz="1800">
                <a:solidFill>
                  <a:srgbClr val="1F2937"/>
                </a:solidFill>
                <a:latin typeface="Times New Roman"/>
                <a:ea typeface="Times New Roman"/>
                <a:cs typeface="Times New Roman"/>
                <a:sym typeface="Times New Roman"/>
              </a:rPr>
              <a:t>Splitting video into chunks at many bitrates</a:t>
            </a:r>
            <a:endParaRPr sz="1800">
              <a:solidFill>
                <a:schemeClr val="dk1"/>
              </a:solidFill>
              <a:latin typeface="Times New Roman"/>
              <a:ea typeface="Times New Roman"/>
              <a:cs typeface="Times New Roman"/>
              <a:sym typeface="Times New Roman"/>
            </a:endParaRPr>
          </a:p>
          <a:p>
            <a:pPr indent="-152400" lvl="0" marL="152400" marR="0" rtl="0" algn="l">
              <a:spcBef>
                <a:spcPts val="0"/>
              </a:spcBef>
              <a:spcAft>
                <a:spcPts val="0"/>
              </a:spcAft>
              <a:buClr>
                <a:srgbClr val="1F2937"/>
              </a:buClr>
              <a:buSzPts val="1800"/>
              <a:buFont typeface="Times New Roman"/>
              <a:buChar char="•"/>
            </a:pPr>
            <a:r>
              <a:rPr lang="en-IN" sz="1800">
                <a:solidFill>
                  <a:srgbClr val="1F2937"/>
                </a:solidFill>
                <a:latin typeface="Times New Roman"/>
                <a:ea typeface="Times New Roman"/>
                <a:cs typeface="Times New Roman"/>
                <a:sym typeface="Times New Roman"/>
              </a:rPr>
              <a:t>Chunk delivery from server to many clients (HTTP)</a:t>
            </a:r>
            <a:endParaRPr sz="1800">
              <a:solidFill>
                <a:schemeClr val="dk1"/>
              </a:solidFill>
              <a:latin typeface="Times New Roman"/>
              <a:ea typeface="Times New Roman"/>
              <a:cs typeface="Times New Roman"/>
              <a:sym typeface="Times New Roman"/>
            </a:endParaRPr>
          </a:p>
          <a:p>
            <a:pPr indent="-152400" lvl="0" marL="152400" marR="0" rtl="0" algn="l">
              <a:spcBef>
                <a:spcPts val="0"/>
              </a:spcBef>
              <a:spcAft>
                <a:spcPts val="0"/>
              </a:spcAft>
              <a:buClr>
                <a:srgbClr val="1F2937"/>
              </a:buClr>
              <a:buSzPts val="1800"/>
              <a:buFont typeface="Times New Roman"/>
              <a:buChar char="•"/>
            </a:pPr>
            <a:r>
              <a:rPr lang="en-IN" sz="1800">
                <a:solidFill>
                  <a:srgbClr val="1F2937"/>
                </a:solidFill>
                <a:latin typeface="Times New Roman"/>
                <a:ea typeface="Times New Roman"/>
                <a:cs typeface="Times New Roman"/>
                <a:sym typeface="Times New Roman"/>
              </a:rPr>
              <a:t>Handling many client requests together</a:t>
            </a:r>
            <a:endParaRPr sz="1800">
              <a:solidFill>
                <a:schemeClr val="dk1"/>
              </a:solidFill>
              <a:latin typeface="Times New Roman"/>
              <a:ea typeface="Times New Roman"/>
              <a:cs typeface="Times New Roman"/>
              <a:sym typeface="Times New Roman"/>
            </a:endParaRPr>
          </a:p>
          <a:p>
            <a:pPr indent="-152400" lvl="0" marL="152400" marR="0" rtl="0" algn="l">
              <a:spcBef>
                <a:spcPts val="0"/>
              </a:spcBef>
              <a:spcAft>
                <a:spcPts val="0"/>
              </a:spcAft>
              <a:buClr>
                <a:srgbClr val="1F2937"/>
              </a:buClr>
              <a:buSzPts val="1800"/>
              <a:buFont typeface="Times New Roman"/>
              <a:buChar char="•"/>
            </a:pPr>
            <a:r>
              <a:rPr lang="en-IN" sz="1800">
                <a:solidFill>
                  <a:srgbClr val="1F2937"/>
                </a:solidFill>
                <a:latin typeface="Times New Roman"/>
                <a:ea typeface="Times New Roman"/>
                <a:cs typeface="Times New Roman"/>
                <a:sym typeface="Times New Roman"/>
              </a:rPr>
              <a:t>Server-side caching of chunks</a:t>
            </a:r>
            <a:endParaRPr sz="1800">
              <a:solidFill>
                <a:schemeClr val="dk1"/>
              </a:solidFill>
              <a:latin typeface="Times New Roman"/>
              <a:ea typeface="Times New Roman"/>
              <a:cs typeface="Times New Roman"/>
              <a:sym typeface="Times New Roman"/>
            </a:endParaRPr>
          </a:p>
          <a:p>
            <a:pPr indent="-152400" lvl="0" marL="152400" marR="0" rtl="0" algn="l">
              <a:spcBef>
                <a:spcPts val="0"/>
              </a:spcBef>
              <a:spcAft>
                <a:spcPts val="0"/>
              </a:spcAft>
              <a:buClr>
                <a:srgbClr val="1F2937"/>
              </a:buClr>
              <a:buSzPts val="1800"/>
              <a:buFont typeface="Times New Roman"/>
              <a:buChar char="•"/>
            </a:pPr>
            <a:r>
              <a:rPr lang="en-IN" sz="1800">
                <a:solidFill>
                  <a:srgbClr val="1F2937"/>
                </a:solidFill>
                <a:latin typeface="Times New Roman"/>
                <a:ea typeface="Times New Roman"/>
                <a:cs typeface="Times New Roman"/>
                <a:sym typeface="Times New Roman"/>
              </a:rPr>
              <a:t>Speed estimation from chunk downloads</a:t>
            </a:r>
            <a:endParaRPr sz="1800">
              <a:solidFill>
                <a:schemeClr val="dk1"/>
              </a:solidFill>
              <a:latin typeface="Times New Roman"/>
              <a:ea typeface="Times New Roman"/>
              <a:cs typeface="Times New Roman"/>
              <a:sym typeface="Times New Roman"/>
            </a:endParaRPr>
          </a:p>
          <a:p>
            <a:pPr indent="-152400" lvl="0" marL="152400" marR="0" rtl="0" algn="l">
              <a:spcBef>
                <a:spcPts val="0"/>
              </a:spcBef>
              <a:spcAft>
                <a:spcPts val="0"/>
              </a:spcAft>
              <a:buClr>
                <a:srgbClr val="1F2937"/>
              </a:buClr>
              <a:buSzPts val="1800"/>
              <a:buFont typeface="Times New Roman"/>
              <a:buChar char="•"/>
            </a:pPr>
            <a:r>
              <a:rPr lang="en-IN" sz="1800">
                <a:solidFill>
                  <a:srgbClr val="1F2937"/>
                </a:solidFill>
                <a:latin typeface="Times New Roman"/>
                <a:ea typeface="Times New Roman"/>
                <a:cs typeface="Times New Roman"/>
                <a:sym typeface="Times New Roman"/>
              </a:rPr>
              <a:t>Client-side ABR choice for the next chunk</a:t>
            </a:r>
            <a:endParaRPr sz="1800">
              <a:solidFill>
                <a:schemeClr val="dk1"/>
              </a:solidFill>
              <a:latin typeface="Times New Roman"/>
              <a:ea typeface="Times New Roman"/>
              <a:cs typeface="Times New Roman"/>
              <a:sym typeface="Times New Roman"/>
            </a:endParaRPr>
          </a:p>
          <a:p>
            <a:pPr indent="-152400" lvl="0" marL="152400" marR="0" rtl="0" algn="l">
              <a:spcBef>
                <a:spcPts val="0"/>
              </a:spcBef>
              <a:spcAft>
                <a:spcPts val="0"/>
              </a:spcAft>
              <a:buClr>
                <a:srgbClr val="1F2937"/>
              </a:buClr>
              <a:buSzPts val="1800"/>
              <a:buFont typeface="Times New Roman"/>
              <a:buChar char="•"/>
            </a:pPr>
            <a:r>
              <a:rPr lang="en-IN" sz="1800">
                <a:solidFill>
                  <a:srgbClr val="1F2937"/>
                </a:solidFill>
                <a:latin typeface="Times New Roman"/>
                <a:ea typeface="Times New Roman"/>
                <a:cs typeface="Times New Roman"/>
                <a:sym typeface="Times New Roman"/>
              </a:rPr>
              <a:t>Playback buffer management and prefetching</a:t>
            </a:r>
            <a:endParaRPr sz="1800">
              <a:solidFill>
                <a:schemeClr val="dk1"/>
              </a:solidFill>
              <a:latin typeface="Times New Roman"/>
              <a:ea typeface="Times New Roman"/>
              <a:cs typeface="Times New Roman"/>
              <a:sym typeface="Times New Roman"/>
            </a:endParaRPr>
          </a:p>
          <a:p>
            <a:pPr indent="-152400" lvl="0" marL="152400" marR="0" rtl="0" algn="l">
              <a:spcBef>
                <a:spcPts val="0"/>
              </a:spcBef>
              <a:spcAft>
                <a:spcPts val="0"/>
              </a:spcAft>
              <a:buClr>
                <a:srgbClr val="1F2937"/>
              </a:buClr>
              <a:buSzPts val="1800"/>
              <a:buFont typeface="Times New Roman"/>
              <a:buChar char="•"/>
            </a:pPr>
            <a:r>
              <a:rPr lang="en-IN" sz="1800">
                <a:solidFill>
                  <a:srgbClr val="1F2937"/>
                </a:solidFill>
                <a:latin typeface="Times New Roman"/>
                <a:ea typeface="Times New Roman"/>
                <a:cs typeface="Times New Roman"/>
                <a:sym typeface="Times New Roman"/>
              </a:rPr>
              <a:t>Testing with changing speeds and many clients</a:t>
            </a:r>
            <a:endParaRPr sz="1800">
              <a:solidFill>
                <a:schemeClr val="dk1"/>
              </a:solidFill>
              <a:latin typeface="Times New Roman"/>
              <a:ea typeface="Times New Roman"/>
              <a:cs typeface="Times New Roman"/>
              <a:sym typeface="Times New Roman"/>
            </a:endParaRPr>
          </a:p>
        </p:txBody>
      </p:sp>
      <p:sp>
        <p:nvSpPr>
          <p:cNvPr id="186" name="Google Shape;186;p9"/>
          <p:cNvSpPr txBox="1"/>
          <p:nvPr/>
        </p:nvSpPr>
        <p:spPr>
          <a:xfrm>
            <a:off x="5339462" y="1255321"/>
            <a:ext cx="4095145"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IN" sz="1800" u="sng">
                <a:solidFill>
                  <a:schemeClr val="dk1"/>
                </a:solidFill>
                <a:latin typeface="Times New Roman"/>
                <a:ea typeface="Times New Roman"/>
                <a:cs typeface="Times New Roman"/>
                <a:sym typeface="Times New Roman"/>
              </a:rPr>
              <a:t>Out of Scope</a:t>
            </a:r>
            <a:endParaRPr/>
          </a:p>
          <a:p>
            <a:pPr indent="0" lvl="0" marL="0" marR="0" rtl="0" algn="l">
              <a:spcBef>
                <a:spcPts val="0"/>
              </a:spcBef>
              <a:spcAft>
                <a:spcPts val="0"/>
              </a:spcAft>
              <a:buClr>
                <a:schemeClr val="dk1"/>
              </a:buClr>
              <a:buSzPts val="1800"/>
              <a:buFont typeface="Calibri"/>
              <a:buNone/>
            </a:pPr>
            <a:r>
              <a:t/>
            </a:r>
            <a:endParaRPr b="1" sz="1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Real-time video encoding. </a:t>
            </a:r>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Video transcoding. </a:t>
            </a:r>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DRM. </a:t>
            </a:r>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Live video streaming.</a:t>
            </a:r>
            <a:endParaRPr/>
          </a:p>
        </p:txBody>
      </p:sp>
      <p:sp>
        <p:nvSpPr>
          <p:cNvPr id="187" name="Google Shape;187;p9"/>
          <p:cNvSpPr txBox="1"/>
          <p:nvPr/>
        </p:nvSpPr>
        <p:spPr>
          <a:xfrm>
            <a:off x="5339462" y="3349997"/>
            <a:ext cx="36000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600" u="sng">
                <a:solidFill>
                  <a:schemeClr val="dk1"/>
                </a:solidFill>
                <a:latin typeface="Times New Roman"/>
                <a:ea typeface="Times New Roman"/>
                <a:cs typeface="Times New Roman"/>
                <a:sym typeface="Times New Roman"/>
              </a:rPr>
              <a:t>OVERALL ASSESSMENT</a:t>
            </a:r>
            <a:endParaRPr/>
          </a:p>
          <a:p>
            <a:pPr indent="0" lvl="0" marL="0" marR="0" rtl="0" algn="l">
              <a:spcBef>
                <a:spcPts val="0"/>
              </a:spcBef>
              <a:spcAft>
                <a:spcPts val="0"/>
              </a:spcAft>
              <a:buNone/>
            </a:pPr>
            <a:r>
              <a:rPr lang="en-IN" sz="1600">
                <a:solidFill>
                  <a:schemeClr val="dk1"/>
                </a:solidFill>
                <a:latin typeface="Times New Roman"/>
                <a:ea typeface="Times New Roman"/>
                <a:cs typeface="Times New Roman"/>
                <a:sym typeface="Times New Roman"/>
              </a:rPr>
              <a:t>Focus only on video-on-demand streaming for many clients, with ABR, buffer management and server caching.</a:t>
            </a:r>
            <a:endParaRPr/>
          </a:p>
        </p:txBody>
      </p:sp>
    </p:spTree>
  </p:cSld>
  <p:clrMapOvr>
    <a:masterClrMapping/>
  </p:clrMapOvr>
  <p:transition spd="slow">
    <p:wipe dir="l"/>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0"/>
          <p:cNvSpPr txBox="1"/>
          <p:nvPr>
            <p:ph type="title"/>
          </p:nvPr>
        </p:nvSpPr>
        <p:spPr>
          <a:xfrm>
            <a:off x="300735" y="1340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193" name="Google Shape;193;p10"/>
          <p:cNvCxnSpPr/>
          <p:nvPr/>
        </p:nvCxnSpPr>
        <p:spPr>
          <a:xfrm>
            <a:off x="518312" y="867790"/>
            <a:ext cx="7978917" cy="0"/>
          </a:xfrm>
          <a:prstGeom prst="straightConnector1">
            <a:avLst/>
          </a:prstGeom>
          <a:noFill/>
          <a:ln cap="flat" cmpd="sng" w="12700">
            <a:solidFill>
              <a:schemeClr val="accent2"/>
            </a:solidFill>
            <a:prstDash val="solid"/>
            <a:miter lim="8000"/>
            <a:headEnd len="sm" w="sm" type="none"/>
            <a:tailEnd len="sm" w="sm" type="none"/>
          </a:ln>
        </p:spPr>
      </p:cxnSp>
      <p:pic>
        <p:nvPicPr>
          <p:cNvPr id="194" name="Google Shape;194;p10"/>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195" name="Google Shape;195;p10"/>
          <p:cNvSpPr txBox="1"/>
          <p:nvPr/>
        </p:nvSpPr>
        <p:spPr>
          <a:xfrm>
            <a:off x="544379" y="261200"/>
            <a:ext cx="630415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200"/>
              <a:buFont typeface="Times New Roman"/>
              <a:buNone/>
            </a:pPr>
            <a:r>
              <a:rPr b="1" lang="en-IN" sz="3200">
                <a:solidFill>
                  <a:schemeClr val="dk1"/>
                </a:solidFill>
                <a:latin typeface="Times New Roman"/>
                <a:ea typeface="Times New Roman"/>
                <a:cs typeface="Times New Roman"/>
                <a:sym typeface="Times New Roman"/>
              </a:rPr>
              <a:t>CAN WE DO THIS ?</a:t>
            </a:r>
            <a:endParaRPr/>
          </a:p>
        </p:txBody>
      </p:sp>
      <p:sp>
        <p:nvSpPr>
          <p:cNvPr id="196" name="Google Shape;196;p10"/>
          <p:cNvSpPr txBox="1"/>
          <p:nvPr/>
        </p:nvSpPr>
        <p:spPr>
          <a:xfrm>
            <a:off x="717981" y="946820"/>
            <a:ext cx="808299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u="sng">
                <a:solidFill>
                  <a:schemeClr val="dk1"/>
                </a:solidFill>
                <a:latin typeface="Times New Roman"/>
                <a:ea typeface="Times New Roman"/>
                <a:cs typeface="Times New Roman"/>
                <a:sym typeface="Times New Roman"/>
              </a:rPr>
              <a:t>FEASIBILITY</a:t>
            </a:r>
            <a:endParaRPr/>
          </a:p>
          <a:p>
            <a:pPr indent="0" lvl="0" marL="0" marR="0" rtl="0" algn="l">
              <a:spcBef>
                <a:spcPts val="0"/>
              </a:spcBef>
              <a:spcAft>
                <a:spcPts val="0"/>
              </a:spcAft>
              <a:buNone/>
            </a:pPr>
            <a:r>
              <a:rPr lang="en-IN" sz="1800">
                <a:solidFill>
                  <a:srgbClr val="0C0C0C"/>
                </a:solidFill>
                <a:latin typeface="Times New Roman"/>
                <a:ea typeface="Times New Roman"/>
                <a:cs typeface="Times New Roman"/>
                <a:sym typeface="Times New Roman"/>
              </a:rPr>
              <a:t>Within the defined 3-credit scope. </a:t>
            </a:r>
            <a:endParaRPr/>
          </a:p>
          <a:p>
            <a:pPr indent="0" lvl="0" marL="0" marR="0" rtl="0" algn="l">
              <a:spcBef>
                <a:spcPts val="0"/>
              </a:spcBef>
              <a:spcAft>
                <a:spcPts val="0"/>
              </a:spcAft>
              <a:buNone/>
            </a:pPr>
            <a:r>
              <a:rPr lang="en-IN" sz="1800">
                <a:solidFill>
                  <a:srgbClr val="0C0C0C"/>
                </a:solidFill>
                <a:latin typeface="Times New Roman"/>
                <a:ea typeface="Times New Roman"/>
                <a:cs typeface="Times New Roman"/>
                <a:sym typeface="Times New Roman"/>
              </a:rPr>
              <a:t>Quality selection, buffer management, handling many clients, server caching, network simulation and testing can be built and tested as a controlled streaming system.</a:t>
            </a:r>
            <a:endParaRPr sz="1800">
              <a:solidFill>
                <a:srgbClr val="0C0C0C"/>
              </a:solidFill>
              <a:latin typeface="Times New Roman"/>
              <a:ea typeface="Times New Roman"/>
              <a:cs typeface="Times New Roman"/>
              <a:sym typeface="Times New Roman"/>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
        <p:nvSpPr>
          <p:cNvPr id="197" name="Google Shape;197;p10"/>
          <p:cNvSpPr txBox="1"/>
          <p:nvPr/>
        </p:nvSpPr>
        <p:spPr>
          <a:xfrm>
            <a:off x="717981" y="2571750"/>
            <a:ext cx="7838721"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u="sng">
                <a:solidFill>
                  <a:schemeClr val="dk1"/>
                </a:solidFill>
                <a:latin typeface="Times New Roman"/>
                <a:ea typeface="Times New Roman"/>
                <a:cs typeface="Times New Roman"/>
                <a:sym typeface="Times New Roman"/>
              </a:rPr>
              <a:t>CONSTRAINTS</a:t>
            </a:r>
            <a:endParaRPr sz="1800">
              <a:solidFill>
                <a:schemeClr val="dk1"/>
              </a:solidFill>
              <a:latin typeface="Times New Roman"/>
              <a:ea typeface="Times New Roman"/>
              <a:cs typeface="Times New Roman"/>
              <a:sym typeface="Times New Roman"/>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just">
              <a:spcBef>
                <a:spcPts val="0"/>
              </a:spcBef>
              <a:spcAft>
                <a:spcPts val="0"/>
              </a:spcAft>
              <a:buClr>
                <a:srgbClr val="1F2937"/>
              </a:buClr>
              <a:buSzPts val="1800"/>
              <a:buFont typeface="Arial"/>
              <a:buChar char="•"/>
            </a:pPr>
            <a:r>
              <a:rPr lang="en-IN" sz="1800">
                <a:solidFill>
                  <a:srgbClr val="1F2937"/>
                </a:solidFill>
                <a:latin typeface="Times New Roman"/>
                <a:ea typeface="Times New Roman"/>
                <a:cs typeface="Times New Roman"/>
                <a:sym typeface="Times New Roman"/>
              </a:rPr>
              <a:t>Simulation may not match all real conditions</a:t>
            </a:r>
            <a:endParaRPr/>
          </a:p>
          <a:p>
            <a:pPr indent="-285750" lvl="0" marL="285750" marR="0" rtl="0" algn="just">
              <a:spcBef>
                <a:spcPts val="0"/>
              </a:spcBef>
              <a:spcAft>
                <a:spcPts val="0"/>
              </a:spcAft>
              <a:buClr>
                <a:srgbClr val="1F2937"/>
              </a:buClr>
              <a:buSzPts val="1800"/>
              <a:buFont typeface="Arial"/>
              <a:buChar char="•"/>
            </a:pPr>
            <a:r>
              <a:rPr lang="en-IN" sz="1800">
                <a:solidFill>
                  <a:srgbClr val="1F2937"/>
                </a:solidFill>
                <a:latin typeface="Times New Roman"/>
                <a:ea typeface="Times New Roman"/>
                <a:cs typeface="Times New Roman"/>
                <a:sym typeface="Times New Roman"/>
              </a:rPr>
              <a:t>Limited videos, quality levels, test clients and computer power</a:t>
            </a:r>
            <a:endParaRPr/>
          </a:p>
          <a:p>
            <a:pPr indent="-285750" lvl="0" marL="285750" marR="0" rtl="0" algn="just">
              <a:spcBef>
                <a:spcPts val="0"/>
              </a:spcBef>
              <a:spcAft>
                <a:spcPts val="0"/>
              </a:spcAft>
              <a:buClr>
                <a:srgbClr val="1F2937"/>
              </a:buClr>
              <a:buSzPts val="1800"/>
              <a:buFont typeface="Arial"/>
              <a:buChar char="•"/>
            </a:pPr>
            <a:r>
              <a:rPr lang="en-IN" sz="1800">
                <a:solidFill>
                  <a:srgbClr val="1F2937"/>
                </a:solidFill>
                <a:latin typeface="Times New Roman"/>
                <a:ea typeface="Times New Roman"/>
                <a:cs typeface="Times New Roman"/>
                <a:sym typeface="Times New Roman"/>
              </a:rPr>
              <a:t>Fixed project time.</a:t>
            </a:r>
            <a:endParaRPr/>
          </a:p>
        </p:txBody>
      </p:sp>
    </p:spTree>
  </p:cSld>
  <p:clrMapOvr>
    <a:masterClrMapping/>
  </p:clrMapOvr>
  <p:transition spd="slow">
    <p:wipe dir="l"/>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1"/>
          <p:cNvSpPr txBox="1"/>
          <p:nvPr>
            <p:ph type="title"/>
          </p:nvPr>
        </p:nvSpPr>
        <p:spPr>
          <a:xfrm>
            <a:off x="300735" y="2842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203" name="Google Shape;203;p11"/>
          <p:cNvCxnSpPr/>
          <p:nvPr/>
        </p:nvCxnSpPr>
        <p:spPr>
          <a:xfrm>
            <a:off x="413635" y="807183"/>
            <a:ext cx="8268262" cy="6329"/>
          </a:xfrm>
          <a:prstGeom prst="straightConnector1">
            <a:avLst/>
          </a:prstGeom>
          <a:noFill/>
          <a:ln cap="flat" cmpd="sng" w="12700">
            <a:solidFill>
              <a:schemeClr val="accent2"/>
            </a:solidFill>
            <a:prstDash val="solid"/>
            <a:miter lim="8000"/>
            <a:headEnd len="sm" w="sm" type="none"/>
            <a:tailEnd len="sm" w="sm" type="none"/>
          </a:ln>
        </p:spPr>
      </p:cxnSp>
      <p:pic>
        <p:nvPicPr>
          <p:cNvPr id="204" name="Google Shape;204;p11"/>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205" name="Google Shape;205;p11"/>
          <p:cNvSpPr txBox="1"/>
          <p:nvPr/>
        </p:nvSpPr>
        <p:spPr>
          <a:xfrm>
            <a:off x="300735" y="208331"/>
            <a:ext cx="63041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Times New Roman"/>
              <a:buNone/>
            </a:pPr>
            <a:r>
              <a:rPr b="1" lang="en-IN" sz="2800">
                <a:solidFill>
                  <a:schemeClr val="dk1"/>
                </a:solidFill>
                <a:latin typeface="Times New Roman"/>
                <a:ea typeface="Times New Roman"/>
                <a:cs typeface="Times New Roman"/>
                <a:sym typeface="Times New Roman"/>
              </a:rPr>
              <a:t>What Could Go Wrong ?</a:t>
            </a:r>
            <a:endParaRPr/>
          </a:p>
        </p:txBody>
      </p:sp>
      <p:sp>
        <p:nvSpPr>
          <p:cNvPr id="206" name="Google Shape;206;p11"/>
          <p:cNvSpPr txBox="1"/>
          <p:nvPr/>
        </p:nvSpPr>
        <p:spPr>
          <a:xfrm>
            <a:off x="413635" y="852962"/>
            <a:ext cx="4818122"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IN" sz="1800" u="sng">
                <a:solidFill>
                  <a:schemeClr val="dk1"/>
                </a:solidFill>
                <a:latin typeface="Times New Roman"/>
                <a:ea typeface="Times New Roman"/>
                <a:cs typeface="Times New Roman"/>
                <a:sym typeface="Times New Roman"/>
              </a:rPr>
              <a:t>Possible Risks</a:t>
            </a:r>
            <a:endParaRPr/>
          </a:p>
          <a:p>
            <a:pPr indent="0" lvl="0" marL="0" marR="0" rtl="0" algn="l">
              <a:spcBef>
                <a:spcPts val="0"/>
              </a:spcBef>
              <a:spcAft>
                <a:spcPts val="0"/>
              </a:spcAft>
              <a:buClr>
                <a:schemeClr val="dk1"/>
              </a:buClr>
              <a:buSzPts val="1800"/>
              <a:buFont typeface="Calibri"/>
              <a:buNone/>
            </a:pPr>
            <a:r>
              <a:t/>
            </a:r>
            <a:endParaRPr b="1" sz="1800" u="sng">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800"/>
              <a:buFont typeface="Arial"/>
              <a:buChar char="•"/>
            </a:pPr>
            <a:r>
              <a:rPr b="1" lang="en-IN" sz="1800">
                <a:solidFill>
                  <a:schemeClr val="dk1"/>
                </a:solidFill>
                <a:latin typeface="Times New Roman"/>
                <a:ea typeface="Times New Roman"/>
                <a:cs typeface="Times New Roman"/>
                <a:sym typeface="Times New Roman"/>
              </a:rPr>
              <a:t>Wrong speed estimation</a:t>
            </a:r>
            <a:br>
              <a:rPr lang="en-IN" sz="1800">
                <a:solidFill>
                  <a:schemeClr val="dk1"/>
                </a:solidFill>
                <a:latin typeface="Times New Roman"/>
                <a:ea typeface="Times New Roman"/>
                <a:cs typeface="Times New Roman"/>
                <a:sym typeface="Times New Roman"/>
              </a:rPr>
            </a:br>
            <a:r>
              <a:rPr b="0" lang="en-IN" sz="1800">
                <a:solidFill>
                  <a:schemeClr val="dk1"/>
                </a:solidFill>
                <a:latin typeface="Times New Roman"/>
                <a:ea typeface="Times New Roman"/>
                <a:cs typeface="Times New Roman"/>
                <a:sym typeface="Times New Roman"/>
              </a:rPr>
              <a:t>   → Wrong video quality may be selected.</a:t>
            </a:r>
            <a:endParaRPr/>
          </a:p>
          <a:p>
            <a:pPr indent="-342900" lvl="0" marL="342900" marR="0" rtl="0" algn="l">
              <a:spcBef>
                <a:spcPts val="0"/>
              </a:spcBef>
              <a:spcAft>
                <a:spcPts val="0"/>
              </a:spcAft>
              <a:buClr>
                <a:schemeClr val="dk1"/>
              </a:buClr>
              <a:buSzPts val="1800"/>
              <a:buFont typeface="Arial"/>
              <a:buChar char="•"/>
            </a:pPr>
            <a:r>
              <a:rPr b="1" lang="en-IN" sz="1800">
                <a:solidFill>
                  <a:schemeClr val="dk1"/>
                </a:solidFill>
                <a:latin typeface="Times New Roman"/>
                <a:ea typeface="Times New Roman"/>
                <a:cs typeface="Times New Roman"/>
                <a:sym typeface="Times New Roman"/>
              </a:rPr>
              <a:t>Sudden network drop</a:t>
            </a:r>
            <a:br>
              <a:rPr lang="en-IN" sz="1800">
                <a:solidFill>
                  <a:schemeClr val="dk1"/>
                </a:solidFill>
                <a:latin typeface="Times New Roman"/>
                <a:ea typeface="Times New Roman"/>
                <a:cs typeface="Times New Roman"/>
                <a:sym typeface="Times New Roman"/>
              </a:rPr>
            </a:br>
            <a:r>
              <a:rPr b="0" lang="en-IN" sz="1800">
                <a:solidFill>
                  <a:schemeClr val="dk1"/>
                </a:solidFill>
                <a:latin typeface="Times New Roman"/>
                <a:ea typeface="Times New Roman"/>
                <a:cs typeface="Times New Roman"/>
                <a:sym typeface="Times New Roman"/>
              </a:rPr>
              <a:t>   → Video may start buffering.</a:t>
            </a:r>
            <a:endParaRPr/>
          </a:p>
          <a:p>
            <a:pPr indent="-342900" lvl="0" marL="342900" marR="0" rtl="0" algn="l">
              <a:spcBef>
                <a:spcPts val="0"/>
              </a:spcBef>
              <a:spcAft>
                <a:spcPts val="0"/>
              </a:spcAft>
              <a:buClr>
                <a:schemeClr val="dk1"/>
              </a:buClr>
              <a:buSzPts val="1800"/>
              <a:buFont typeface="Arial"/>
              <a:buChar char="•"/>
            </a:pPr>
            <a:r>
              <a:rPr b="1" lang="en-IN" sz="1800">
                <a:solidFill>
                  <a:schemeClr val="dk1"/>
                </a:solidFill>
                <a:latin typeface="Times New Roman"/>
                <a:ea typeface="Times New Roman"/>
                <a:cs typeface="Times New Roman"/>
                <a:sym typeface="Times New Roman"/>
              </a:rPr>
              <a:t>Buffer becomes empty</a:t>
            </a:r>
            <a:br>
              <a:rPr lang="en-IN" sz="1800">
                <a:solidFill>
                  <a:schemeClr val="dk1"/>
                </a:solidFill>
                <a:latin typeface="Times New Roman"/>
                <a:ea typeface="Times New Roman"/>
                <a:cs typeface="Times New Roman"/>
                <a:sym typeface="Times New Roman"/>
              </a:rPr>
            </a:br>
            <a:r>
              <a:rPr b="0" lang="en-IN" sz="1800">
                <a:solidFill>
                  <a:schemeClr val="dk1"/>
                </a:solidFill>
                <a:latin typeface="Times New Roman"/>
                <a:ea typeface="Times New Roman"/>
                <a:cs typeface="Times New Roman"/>
                <a:sym typeface="Times New Roman"/>
              </a:rPr>
              <a:t>   → Playback stops.</a:t>
            </a:r>
            <a:endParaRPr/>
          </a:p>
          <a:p>
            <a:pPr indent="-342900" lvl="0" marL="342900" marR="0" rtl="0" algn="l">
              <a:spcBef>
                <a:spcPts val="0"/>
              </a:spcBef>
              <a:spcAft>
                <a:spcPts val="0"/>
              </a:spcAft>
              <a:buClr>
                <a:schemeClr val="dk1"/>
              </a:buClr>
              <a:buSzPts val="1800"/>
              <a:buFont typeface="Arial"/>
              <a:buChar char="•"/>
            </a:pPr>
            <a:r>
              <a:rPr b="1" lang="en-IN" sz="1800">
                <a:solidFill>
                  <a:schemeClr val="dk1"/>
                </a:solidFill>
                <a:latin typeface="Times New Roman"/>
                <a:ea typeface="Times New Roman"/>
                <a:cs typeface="Times New Roman"/>
                <a:sym typeface="Times New Roman"/>
              </a:rPr>
              <a:t>Frequent speed changes</a:t>
            </a:r>
            <a:br>
              <a:rPr lang="en-IN" sz="1800">
                <a:solidFill>
                  <a:schemeClr val="dk1"/>
                </a:solidFill>
                <a:latin typeface="Times New Roman"/>
                <a:ea typeface="Times New Roman"/>
                <a:cs typeface="Times New Roman"/>
                <a:sym typeface="Times New Roman"/>
              </a:rPr>
            </a:br>
            <a:r>
              <a:rPr b="0" lang="en-IN" sz="1800">
                <a:solidFill>
                  <a:schemeClr val="dk1"/>
                </a:solidFill>
                <a:latin typeface="Times New Roman"/>
                <a:ea typeface="Times New Roman"/>
                <a:cs typeface="Times New Roman"/>
                <a:sym typeface="Times New Roman"/>
              </a:rPr>
              <a:t>   → Video quality may change too often.</a:t>
            </a:r>
            <a:endParaRPr/>
          </a:p>
          <a:p>
            <a:pPr indent="-342900" lvl="0" marL="342900" marR="0" rtl="0" algn="l">
              <a:spcBef>
                <a:spcPts val="0"/>
              </a:spcBef>
              <a:spcAft>
                <a:spcPts val="0"/>
              </a:spcAft>
              <a:buClr>
                <a:schemeClr val="dk1"/>
              </a:buClr>
              <a:buSzPts val="1800"/>
              <a:buFont typeface="Arial"/>
              <a:buChar char="•"/>
            </a:pPr>
            <a:r>
              <a:rPr b="1" lang="en-IN" sz="1800">
                <a:solidFill>
                  <a:schemeClr val="dk1"/>
                </a:solidFill>
                <a:latin typeface="Times New Roman"/>
                <a:ea typeface="Times New Roman"/>
                <a:cs typeface="Times New Roman"/>
                <a:sym typeface="Times New Roman"/>
              </a:rPr>
              <a:t>Too many clients at once</a:t>
            </a:r>
            <a:br>
              <a:rPr lang="en-IN" sz="1800">
                <a:solidFill>
                  <a:schemeClr val="dk1"/>
                </a:solidFill>
                <a:latin typeface="Times New Roman"/>
                <a:ea typeface="Times New Roman"/>
                <a:cs typeface="Times New Roman"/>
                <a:sym typeface="Times New Roman"/>
              </a:rPr>
            </a:br>
            <a:r>
              <a:rPr b="0" lang="en-IN" sz="1800">
                <a:solidFill>
                  <a:schemeClr val="dk1"/>
                </a:solidFill>
                <a:latin typeface="Times New Roman"/>
                <a:ea typeface="Times New Roman"/>
                <a:cs typeface="Times New Roman"/>
                <a:sym typeface="Times New Roman"/>
              </a:rPr>
              <a:t>   → Server is slow; chunks arrive late.</a:t>
            </a:r>
            <a:endParaRPr/>
          </a:p>
          <a:p>
            <a:pPr indent="-342900" lvl="0" marL="342900" marR="0" rtl="0" algn="l">
              <a:spcBef>
                <a:spcPts val="0"/>
              </a:spcBef>
              <a:spcAft>
                <a:spcPts val="0"/>
              </a:spcAft>
              <a:buClr>
                <a:schemeClr val="dk1"/>
              </a:buClr>
              <a:buSzPts val="1800"/>
              <a:buFont typeface="Arial"/>
              <a:buChar char="•"/>
            </a:pPr>
            <a:r>
              <a:rPr b="1" lang="en-IN" sz="1800">
                <a:solidFill>
                  <a:schemeClr val="dk1"/>
                </a:solidFill>
                <a:latin typeface="Times New Roman"/>
                <a:ea typeface="Times New Roman"/>
                <a:cs typeface="Times New Roman"/>
                <a:sym typeface="Times New Roman"/>
              </a:rPr>
              <a:t>Cache miss or missing chunk</a:t>
            </a:r>
            <a:br>
              <a:rPr lang="en-IN" sz="1800">
                <a:solidFill>
                  <a:schemeClr val="dk1"/>
                </a:solidFill>
                <a:latin typeface="Times New Roman"/>
                <a:ea typeface="Times New Roman"/>
                <a:cs typeface="Times New Roman"/>
                <a:sym typeface="Times New Roman"/>
              </a:rPr>
            </a:br>
            <a:r>
              <a:rPr b="0" lang="en-IN" sz="1800">
                <a:solidFill>
                  <a:schemeClr val="dk1"/>
                </a:solidFill>
                <a:latin typeface="Times New Roman"/>
                <a:ea typeface="Times New Roman"/>
                <a:cs typeface="Times New Roman"/>
                <a:sym typeface="Times New Roman"/>
              </a:rPr>
              <a:t>   → Chunk is slow to get; playback may stop.</a:t>
            </a:r>
            <a:endParaRPr/>
          </a:p>
        </p:txBody>
      </p:sp>
      <p:sp>
        <p:nvSpPr>
          <p:cNvPr id="207" name="Google Shape;207;p11"/>
          <p:cNvSpPr txBox="1"/>
          <p:nvPr/>
        </p:nvSpPr>
        <p:spPr>
          <a:xfrm>
            <a:off x="5405377" y="916786"/>
            <a:ext cx="3437272"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IN" sz="1800" u="sng">
                <a:solidFill>
                  <a:schemeClr val="dk1"/>
                </a:solidFill>
                <a:latin typeface="Times New Roman"/>
                <a:ea typeface="Times New Roman"/>
                <a:cs typeface="Times New Roman"/>
                <a:sym typeface="Times New Roman"/>
              </a:rPr>
              <a:t>How We Handle Them</a:t>
            </a:r>
            <a:endParaRPr/>
          </a:p>
          <a:p>
            <a:pPr indent="0" lvl="0" marL="0" marR="0" rtl="0" algn="l">
              <a:spcBef>
                <a:spcPts val="0"/>
              </a:spcBef>
              <a:spcAft>
                <a:spcPts val="0"/>
              </a:spcAft>
              <a:buClr>
                <a:schemeClr val="dk1"/>
              </a:buClr>
              <a:buSzPts val="1800"/>
              <a:buFont typeface="Calibri"/>
              <a:buNone/>
            </a:pPr>
            <a:r>
              <a:t/>
            </a:r>
            <a:endParaRPr b="1" sz="1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Test different network speeds.</a:t>
            </a:r>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Monitor buffer level.</a:t>
            </a:r>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Measure quality changes.</a:t>
            </a:r>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Test sudden speed drops.</a:t>
            </a:r>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Test cache hits and missing chunks.</a:t>
            </a:r>
            <a:endParaRPr/>
          </a:p>
          <a:p>
            <a:pPr indent="-342900" lvl="0" marL="34290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Test with many clients.</a:t>
            </a:r>
            <a:endParaRPr/>
          </a:p>
        </p:txBody>
      </p:sp>
      <p:sp>
        <p:nvSpPr>
          <p:cNvPr id="208" name="Google Shape;208;p11"/>
          <p:cNvSpPr txBox="1"/>
          <p:nvPr/>
        </p:nvSpPr>
        <p:spPr>
          <a:xfrm>
            <a:off x="5405377" y="3811215"/>
            <a:ext cx="352335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Times New Roman"/>
              <a:buNone/>
            </a:pPr>
            <a:r>
              <a:rPr b="1" lang="en-IN" sz="1600">
                <a:solidFill>
                  <a:schemeClr val="dk1"/>
                </a:solidFill>
                <a:latin typeface="Times New Roman"/>
                <a:ea typeface="Times New Roman"/>
                <a:cs typeface="Times New Roman"/>
                <a:sym typeface="Times New Roman"/>
              </a:rPr>
              <a:t>The main risk is choosing the wrong video quality when network speed changes or many clients use the server.</a:t>
            </a:r>
            <a:endParaRPr/>
          </a:p>
        </p:txBody>
      </p:sp>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300735" y="2842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214" name="Google Shape;214;p12"/>
          <p:cNvCxnSpPr/>
          <p:nvPr/>
        </p:nvCxnSpPr>
        <p:spPr>
          <a:xfrm>
            <a:off x="413635" y="807183"/>
            <a:ext cx="8268262" cy="6329"/>
          </a:xfrm>
          <a:prstGeom prst="straightConnector1">
            <a:avLst/>
          </a:prstGeom>
          <a:noFill/>
          <a:ln cap="flat" cmpd="sng" w="12700">
            <a:solidFill>
              <a:schemeClr val="accent2"/>
            </a:solidFill>
            <a:prstDash val="solid"/>
            <a:miter lim="8000"/>
            <a:headEnd len="sm" w="sm" type="none"/>
            <a:tailEnd len="sm" w="sm" type="none"/>
          </a:ln>
        </p:spPr>
      </p:cxnSp>
      <p:pic>
        <p:nvPicPr>
          <p:cNvPr id="215" name="Google Shape;215;p12"/>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216" name="Google Shape;216;p12"/>
          <p:cNvSpPr txBox="1"/>
          <p:nvPr/>
        </p:nvSpPr>
        <p:spPr>
          <a:xfrm>
            <a:off x="413635" y="308970"/>
            <a:ext cx="63041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Times New Roman"/>
              <a:buNone/>
            </a:pPr>
            <a:r>
              <a:rPr b="1" lang="en-IN" sz="2800">
                <a:solidFill>
                  <a:schemeClr val="dk1"/>
                </a:solidFill>
                <a:latin typeface="Times New Roman"/>
                <a:ea typeface="Times New Roman"/>
                <a:cs typeface="Times New Roman"/>
                <a:sym typeface="Times New Roman"/>
              </a:rPr>
              <a:t>How Will We Know It Works?</a:t>
            </a:r>
            <a:endParaRPr/>
          </a:p>
        </p:txBody>
      </p:sp>
      <p:graphicFrame>
        <p:nvGraphicFramePr>
          <p:cNvPr id="217" name="Google Shape;217;p12"/>
          <p:cNvGraphicFramePr/>
          <p:nvPr/>
        </p:nvGraphicFramePr>
        <p:xfrm>
          <a:off x="628650" y="1093670"/>
          <a:ext cx="3000000" cy="3000000"/>
        </p:xfrm>
        <a:graphic>
          <a:graphicData uri="http://schemas.openxmlformats.org/drawingml/2006/table">
            <a:tbl>
              <a:tblPr>
                <a:noFill/>
                <a:tableStyleId>{357E4A72-1A30-4132-B10C-302D43076DB2}</a:tableStyleId>
              </a:tblPr>
              <a:tblGrid>
                <a:gridCol w="3943350"/>
                <a:gridCol w="3943350"/>
              </a:tblGrid>
              <a:tr h="228600">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KPI</a:t>
                      </a:r>
                      <a:endParaRPr/>
                    </a:p>
                  </a:txBody>
                  <a:tcPr marT="45725" marB="45725" marR="91450" marL="91450" anchor="ctr">
                    <a:solidFill>
                      <a:srgbClr val="AAE571"/>
                    </a:solidFill>
                  </a:tcPr>
                </a:tc>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What We Will Check</a:t>
                      </a:r>
                      <a:endParaRPr/>
                    </a:p>
                  </a:txBody>
                  <a:tcPr marT="45725" marB="45725" marR="91450" marL="91450" anchor="ctr">
                    <a:solidFill>
                      <a:srgbClr val="AAE571"/>
                    </a:solidFill>
                  </a:tcPr>
                </a:tc>
              </a:tr>
              <a:tr h="228600">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Rebuffering Ratio</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How much time each client’s video is stopped because of buffering</a:t>
                      </a:r>
                      <a:endParaRPr/>
                    </a:p>
                  </a:txBody>
                  <a:tcPr marT="45725" marB="45725" marR="91450" marL="91450" anchor="ctr"/>
                </a:tc>
              </a:tr>
              <a:tr h="228600">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Average Bitrate</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The average video quality selected by each client</a:t>
                      </a:r>
                      <a:endParaRPr/>
                    </a:p>
                  </a:txBody>
                  <a:tcPr marT="45725" marB="45725" marR="91450" marL="91450" anchor="ctr"/>
                </a:tc>
              </a:tr>
              <a:tr h="228600">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Buffer Underflow Count</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How many times the buffer becomes empty and playback stops</a:t>
                      </a:r>
                      <a:endParaRPr/>
                    </a:p>
                  </a:txBody>
                  <a:tcPr marT="45725" marB="45725" marR="91450" marL="91450" anchor="ctr"/>
                </a:tc>
              </a:tr>
              <a:tr h="228600">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Bitrate-Switch Frequency</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How many times the video quality changes during playback</a:t>
                      </a:r>
                      <a:endParaRPr/>
                    </a:p>
                  </a:txBody>
                  <a:tcPr marT="45725" marB="45725" marR="91450" marL="91450" anchor="ctr"/>
                </a:tc>
              </a:tr>
              <a:tr h="228600">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Server Load</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How well the server works when many clients watch at the same time</a:t>
                      </a:r>
                      <a:endParaRPr/>
                    </a:p>
                  </a:txBody>
                  <a:tcPr marT="45725" marB="45725" marR="91450" marL="91450" anchor="ctr"/>
                </a:tc>
              </a:tr>
              <a:tr h="228600">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Cache Hit Ratio</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imes New Roman"/>
                        <a:buNone/>
                      </a:pPr>
                      <a:r>
                        <a:rPr lang="en-IN" sz="1400" u="none" cap="none" strike="noStrike">
                          <a:latin typeface="Times New Roman"/>
                          <a:ea typeface="Times New Roman"/>
                          <a:cs typeface="Times New Roman"/>
                          <a:sym typeface="Times New Roman"/>
                        </a:rPr>
                        <a:t>How many chunk requests are served from the server cache</a:t>
                      </a:r>
                      <a:endParaRPr/>
                    </a:p>
                  </a:txBody>
                  <a:tcPr marT="45725" marB="45725" marR="91450" marL="91450" anchor="ctr"/>
                </a:tc>
              </a:tr>
            </a:tbl>
          </a:graphicData>
        </a:graphic>
      </p:graphicFrame>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txBox="1"/>
          <p:nvPr>
            <p:ph type="title"/>
          </p:nvPr>
        </p:nvSpPr>
        <p:spPr>
          <a:xfrm>
            <a:off x="300735" y="28423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3300"/>
              <a:buFont typeface="Times New Roman"/>
              <a:buNone/>
            </a:pP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cxnSp>
        <p:nvCxnSpPr>
          <p:cNvPr id="223" name="Google Shape;223;p13"/>
          <p:cNvCxnSpPr/>
          <p:nvPr/>
        </p:nvCxnSpPr>
        <p:spPr>
          <a:xfrm flipH="1" rot="10800000">
            <a:off x="193288" y="897527"/>
            <a:ext cx="8303941" cy="68912"/>
          </a:xfrm>
          <a:prstGeom prst="straightConnector1">
            <a:avLst/>
          </a:prstGeom>
          <a:noFill/>
          <a:ln cap="flat" cmpd="sng" w="12700">
            <a:solidFill>
              <a:schemeClr val="accent2"/>
            </a:solidFill>
            <a:prstDash val="solid"/>
            <a:miter lim="8000"/>
            <a:headEnd len="sm" w="sm" type="none"/>
            <a:tailEnd len="sm" w="sm" type="none"/>
          </a:ln>
        </p:spPr>
      </p:cxnSp>
      <p:pic>
        <p:nvPicPr>
          <p:cNvPr id="224" name="Google Shape;224;p13"/>
          <p:cNvPicPr preferRelativeResize="0"/>
          <p:nvPr/>
        </p:nvPicPr>
        <p:blipFill rotWithShape="1">
          <a:blip r:embed="rId3">
            <a:alphaModFix/>
          </a:blip>
          <a:srcRect b="0" l="0" r="0" t="0"/>
          <a:stretch/>
        </p:blipFill>
        <p:spPr>
          <a:xfrm>
            <a:off x="7092177" y="174627"/>
            <a:ext cx="1828080" cy="572700"/>
          </a:xfrm>
          <a:prstGeom prst="rect">
            <a:avLst/>
          </a:prstGeom>
          <a:noFill/>
          <a:ln>
            <a:noFill/>
          </a:ln>
        </p:spPr>
      </p:pic>
      <p:sp>
        <p:nvSpPr>
          <p:cNvPr id="225" name="Google Shape;225;p13"/>
          <p:cNvSpPr txBox="1"/>
          <p:nvPr/>
        </p:nvSpPr>
        <p:spPr>
          <a:xfrm>
            <a:off x="193288" y="329330"/>
            <a:ext cx="6304154"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3200"/>
              <a:buFont typeface="Times New Roman"/>
              <a:buNone/>
            </a:pPr>
            <a:r>
              <a:rPr b="1" lang="en-IN" sz="3200">
                <a:solidFill>
                  <a:schemeClr val="dk1"/>
                </a:solidFill>
                <a:latin typeface="Times New Roman"/>
                <a:ea typeface="Times New Roman"/>
                <a:cs typeface="Times New Roman"/>
                <a:sym typeface="Times New Roman"/>
              </a:rPr>
              <a:t>Evidence That the Problem Is Real</a:t>
            </a:r>
            <a:endParaRPr b="1" sz="3200" u="sng">
              <a:solidFill>
                <a:schemeClr val="dk1"/>
              </a:solidFill>
              <a:latin typeface="Times New Roman"/>
              <a:ea typeface="Times New Roman"/>
              <a:cs typeface="Times New Roman"/>
              <a:sym typeface="Times New Roman"/>
            </a:endParaRPr>
          </a:p>
        </p:txBody>
      </p:sp>
      <p:sp>
        <p:nvSpPr>
          <p:cNvPr id="226" name="Google Shape;226;p13"/>
          <p:cNvSpPr txBox="1"/>
          <p:nvPr/>
        </p:nvSpPr>
        <p:spPr>
          <a:xfrm>
            <a:off x="517358" y="1143000"/>
            <a:ext cx="7194884"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Times New Roman"/>
                <a:ea typeface="Times New Roman"/>
                <a:cs typeface="Times New Roman"/>
                <a:sym typeface="Times New Roman"/>
              </a:rPr>
              <a:t>Real-Life Context</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Platforms like </a:t>
            </a:r>
            <a:r>
              <a:rPr b="1" lang="en-IN" sz="1800">
                <a:solidFill>
                  <a:schemeClr val="dk1"/>
                </a:solidFill>
                <a:latin typeface="Times New Roman"/>
                <a:ea typeface="Times New Roman"/>
                <a:cs typeface="Times New Roman"/>
                <a:sym typeface="Times New Roman"/>
              </a:rPr>
              <a:t>YouTube and Netflix</a:t>
            </a:r>
            <a:r>
              <a:rPr lang="en-IN" sz="1800">
                <a:solidFill>
                  <a:schemeClr val="dk1"/>
                </a:solidFill>
                <a:latin typeface="Times New Roman"/>
                <a:ea typeface="Times New Roman"/>
                <a:cs typeface="Times New Roman"/>
                <a:sym typeface="Times New Roman"/>
              </a:rPr>
              <a:t> automatically adjust video quality based on network conditions.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When the Internet becomes </a:t>
            </a:r>
            <a:r>
              <a:rPr b="1" lang="en-IN" sz="1800">
                <a:solidFill>
                  <a:schemeClr val="dk1"/>
                </a:solidFill>
                <a:latin typeface="Times New Roman"/>
                <a:ea typeface="Times New Roman"/>
                <a:cs typeface="Times New Roman"/>
                <a:sym typeface="Times New Roman"/>
              </a:rPr>
              <a:t>slow or unstable</a:t>
            </a:r>
            <a:r>
              <a:rPr lang="en-IN" sz="1800">
                <a:solidFill>
                  <a:schemeClr val="dk1"/>
                </a:solidFill>
                <a:latin typeface="Times New Roman"/>
                <a:ea typeface="Times New Roman"/>
                <a:cs typeface="Times New Roman"/>
                <a:sym typeface="Times New Roman"/>
              </a:rPr>
              <a:t>, higher-quality video may take longer to load or may buffer.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Video quality may therefore </a:t>
            </a:r>
            <a:r>
              <a:rPr b="1" lang="en-IN" sz="1800">
                <a:solidFill>
                  <a:schemeClr val="dk1"/>
                </a:solidFill>
                <a:latin typeface="Times New Roman"/>
                <a:ea typeface="Times New Roman"/>
                <a:cs typeface="Times New Roman"/>
                <a:sym typeface="Times New Roman"/>
              </a:rPr>
              <a:t>change during playback</a:t>
            </a:r>
            <a:r>
              <a:rPr lang="en-IN" sz="1800">
                <a:solidFill>
                  <a:schemeClr val="dk1"/>
                </a:solidFill>
                <a:latin typeface="Times New Roman"/>
                <a:ea typeface="Times New Roman"/>
                <a:cs typeface="Times New Roman"/>
                <a:sym typeface="Times New Roman"/>
              </a:rPr>
              <a:t> as network conditions change.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Popular videos are watched by </a:t>
            </a:r>
            <a:r>
              <a:rPr lang="en-IN" sz="1800" b="1">
                <a:solidFill>
                  <a:schemeClr val="dk1"/>
                </a:solidFill>
                <a:latin typeface="Times New Roman"/>
                <a:ea typeface="Times New Roman"/>
                <a:cs typeface="Times New Roman"/>
                <a:sym typeface="Times New Roman"/>
              </a:rPr>
              <a:t>many users at the same time</a:t>
            </a:r>
            <a:r>
              <a:rPr lang="en-IN" sz="1800">
                <a:solidFill>
                  <a:schemeClr val="dk1"/>
                </a:solidFill>
                <a:latin typeface="Times New Roman"/>
                <a:ea typeface="Times New Roman"/>
                <a:cs typeface="Times New Roman"/>
                <a:sym typeface="Times New Roman"/>
              </a:rPr>
              <a:t>, so servers use caching to share the load.</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Research has tested video streaming with </a:t>
            </a:r>
            <a:r>
              <a:rPr b="1" lang="en-IN" sz="1800">
                <a:solidFill>
                  <a:schemeClr val="dk1"/>
                </a:solidFill>
                <a:latin typeface="Times New Roman"/>
                <a:ea typeface="Times New Roman"/>
                <a:cs typeface="Times New Roman"/>
                <a:sym typeface="Times New Roman"/>
              </a:rPr>
              <a:t>63,508 real users</a:t>
            </a:r>
            <a:r>
              <a:rPr lang="en-IN" sz="1800">
                <a:solidFill>
                  <a:schemeClr val="dk1"/>
                </a:solidFill>
                <a:latin typeface="Times New Roman"/>
                <a:ea typeface="Times New Roman"/>
                <a:cs typeface="Times New Roman"/>
                <a:sym typeface="Times New Roman"/>
              </a:rPr>
              <a:t>.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Times New Roman"/>
                <a:ea typeface="Times New Roman"/>
                <a:cs typeface="Times New Roman"/>
                <a:sym typeface="Times New Roman"/>
              </a:rPr>
              <a:t>The study found that real Internet conditions make </a:t>
            </a:r>
            <a:r>
              <a:rPr b="1" lang="en-IN" sz="1800">
                <a:solidFill>
                  <a:schemeClr val="dk1"/>
                </a:solidFill>
                <a:latin typeface="Times New Roman"/>
                <a:ea typeface="Times New Roman"/>
                <a:cs typeface="Times New Roman"/>
                <a:sym typeface="Times New Roman"/>
              </a:rPr>
              <a:t>bitrate selection difficult</a:t>
            </a:r>
            <a:r>
              <a:rPr lang="en-IN" sz="1800">
                <a:solidFill>
                  <a:schemeClr val="dk1"/>
                </a:solidFill>
                <a:latin typeface="Times New Roman"/>
                <a:ea typeface="Times New Roman"/>
                <a:cs typeface="Times New Roman"/>
                <a:sym typeface="Times New Roman"/>
              </a:rPr>
              <a:t>.</a:t>
            </a:r>
            <a:endParaRPr/>
          </a:p>
          <a:p>
            <a:pPr indent="-285750" lvl="0" marL="28575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Sources:</a:t>
            </a:r>
            <a:r>
              <a:rPr lang="en-IN" sz="1800">
                <a:solidFill>
                  <a:schemeClr val="dk1"/>
                </a:solidFill>
                <a:latin typeface="Calibri"/>
                <a:ea typeface="Calibri"/>
                <a:cs typeface="Calibri"/>
                <a:sym typeface="Calibri"/>
              </a:rPr>
              <a:t> USENIX NSDI 2020; USENIX ATC 2012.</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32" name="Google Shape;232;p14"/>
          <p:cNvSpPr txBox="1"/>
          <p:nvPr/>
        </p:nvSpPr>
        <p:spPr>
          <a:xfrm>
            <a:off x="2285999" y="-7057345"/>
            <a:ext cx="6590371" cy="13195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1" i="0" lang="en-IN" sz="1800" u="none" strike="noStrike">
                <a:solidFill>
                  <a:schemeClr val="dk1"/>
                </a:solidFill>
                <a:latin typeface="Calibri"/>
                <a:ea typeface="Calibri"/>
                <a:cs typeface="Calibri"/>
                <a:sym typeface="Calibri"/>
              </a:rPr>
              <a:t>Adaptive Video Streaming &amp; Buffer Management</a:t>
            </a: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br>
              <a:rPr b="0" lang="en-IN"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rPr b="0" i="0" lang="en-IN" sz="1800" u="none" strike="noStrike">
                <a:solidFill>
                  <a:schemeClr val="dk1"/>
                </a:solidFill>
                <a:latin typeface="Calibri"/>
                <a:ea typeface="Calibri"/>
                <a:cs typeface="Calibri"/>
                <a:sym typeface="Calibri"/>
              </a:rPr>
              <a:t>analytics</a:t>
            </a:r>
            <a:r>
              <a:rPr b="1" i="0" lang="en-IN" sz="1800" u="none" strike="noStrike">
                <a:solidFill>
                  <a:schemeClr val="dk1"/>
                </a:solidFill>
                <a:latin typeface="Calibri"/>
                <a:ea typeface="Calibri"/>
                <a:cs typeface="Calibri"/>
                <a:sym typeface="Calibri"/>
              </a:rPr>
              <a:t>Current Situation &amp; Observation</a:t>
            </a:r>
            <a:endParaRPr b="0" sz="1800">
              <a:solidFill>
                <a:schemeClr val="dk1"/>
              </a:solidFill>
              <a:latin typeface="Calibri"/>
              <a:ea typeface="Calibri"/>
              <a:cs typeface="Calibri"/>
              <a:sym typeface="Calibri"/>
            </a:endParaRPr>
          </a:p>
          <a:p>
            <a:pPr indent="-342900" lvl="0" marL="342900" marR="0" rtl="0" algn="l">
              <a:spcBef>
                <a:spcPts val="1200"/>
              </a:spcBef>
              <a:spcAft>
                <a:spcPts val="0"/>
              </a:spcAft>
              <a:buClr>
                <a:schemeClr val="dk1"/>
              </a:buClr>
              <a:buSzPts val="1800"/>
              <a:buFont typeface="Arial"/>
              <a:buChar char="•"/>
            </a:pPr>
            <a:r>
              <a:rPr b="0" i="0" lang="en-IN" sz="1800" u="none" strike="noStrike">
                <a:solidFill>
                  <a:schemeClr val="dk1"/>
                </a:solidFill>
                <a:latin typeface="Calibri"/>
                <a:ea typeface="Calibri"/>
                <a:cs typeface="Calibri"/>
                <a:sym typeface="Calibri"/>
              </a:rPr>
              <a:t>Video streaming performance depends heavily on dynamic network conditions.</a:t>
            </a:r>
            <a:endParaRPr/>
          </a:p>
          <a:p>
            <a:pPr indent="-342900" lvl="0" marL="342900" marR="0" rtl="0" algn="l">
              <a:spcBef>
                <a:spcPts val="900"/>
              </a:spcBef>
              <a:spcAft>
                <a:spcPts val="0"/>
              </a:spcAft>
              <a:buClr>
                <a:schemeClr val="dk1"/>
              </a:buClr>
              <a:buSzPts val="1800"/>
              <a:buFont typeface="Arial"/>
              <a:buChar char="•"/>
            </a:pPr>
            <a:r>
              <a:rPr b="0" i="0" lang="en-IN" sz="1800" u="none" strike="noStrike">
                <a:solidFill>
                  <a:schemeClr val="dk1"/>
                </a:solidFill>
                <a:latin typeface="Calibri"/>
                <a:ea typeface="Calibri"/>
                <a:cs typeface="Calibri"/>
                <a:sym typeface="Calibri"/>
              </a:rPr>
              <a:t>Network bandwidth can fluctuate unpredictably during active video playback.</a:t>
            </a:r>
            <a:endParaRPr/>
          </a:p>
          <a:p>
            <a:pPr indent="-342900" lvl="0" marL="342900" marR="0" rtl="0" algn="l">
              <a:spcBef>
                <a:spcPts val="900"/>
              </a:spcBef>
              <a:spcAft>
                <a:spcPts val="0"/>
              </a:spcAft>
              <a:buClr>
                <a:schemeClr val="dk1"/>
              </a:buClr>
              <a:buSzPts val="1800"/>
              <a:buFont typeface="Arial"/>
              <a:buChar char="•"/>
            </a:pPr>
            <a:r>
              <a:rPr b="0" i="0" lang="en-IN" sz="1800" u="none" strike="noStrike">
                <a:solidFill>
                  <a:schemeClr val="dk1"/>
                </a:solidFill>
                <a:latin typeface="Calibri"/>
                <a:ea typeface="Calibri"/>
                <a:cs typeface="Calibri"/>
                <a:sym typeface="Calibri"/>
              </a:rPr>
              <a:t>When bandwidth decreases, individual video segments take significantly longer to download.</a:t>
            </a:r>
            <a:endParaRPr/>
          </a:p>
          <a:p>
            <a:pPr indent="-342900" lvl="0" marL="342900" marR="0" rtl="0" algn="l">
              <a:spcBef>
                <a:spcPts val="900"/>
              </a:spcBef>
              <a:spcAft>
                <a:spcPts val="0"/>
              </a:spcAft>
              <a:buClr>
                <a:schemeClr val="dk1"/>
              </a:buClr>
              <a:buSzPts val="1800"/>
              <a:buFont typeface="Arial"/>
              <a:buChar char="•"/>
            </a:pPr>
            <a:r>
              <a:rPr b="0" i="0" lang="en-IN" sz="1800" u="none" strike="noStrike">
                <a:solidFill>
                  <a:schemeClr val="dk1"/>
                </a:solidFill>
                <a:latin typeface="Calibri"/>
                <a:ea typeface="Calibri"/>
                <a:cs typeface="Calibri"/>
                <a:sym typeface="Calibri"/>
              </a:rPr>
              <a:t>If the playback buffer level drops too low, video playback halts and enters a buffering state.</a:t>
            </a:r>
            <a:endParaRPr/>
          </a:p>
          <a:p>
            <a:pPr indent="-342900" lvl="0" marL="342900" marR="0" rtl="0" algn="l">
              <a:spcBef>
                <a:spcPts val="900"/>
              </a:spcBef>
              <a:spcAft>
                <a:spcPts val="0"/>
              </a:spcAft>
              <a:buClr>
                <a:schemeClr val="dk1"/>
              </a:buClr>
              <a:buSzPts val="1800"/>
              <a:buFont typeface="Arial"/>
              <a:buChar char="•"/>
            </a:pPr>
            <a:r>
              <a:rPr b="0" i="0" lang="en-IN" sz="1800" u="none" strike="noStrike">
                <a:solidFill>
                  <a:schemeClr val="dk1"/>
                </a:solidFill>
                <a:latin typeface="Calibri"/>
                <a:ea typeface="Calibri"/>
                <a:cs typeface="Calibri"/>
                <a:sym typeface="Calibri"/>
              </a:rPr>
              <a:t>Frequent and erratic changes in video quality severely degrade the overall user viewing experience.</a:t>
            </a:r>
            <a:endParaRPr/>
          </a:p>
          <a:p>
            <a:pPr indent="0" lvl="0" marL="0" marR="0" rtl="0" algn="l">
              <a:spcBef>
                <a:spcPts val="0"/>
              </a:spcBef>
              <a:spcAft>
                <a:spcPts val="0"/>
              </a:spcAft>
              <a:buClr>
                <a:schemeClr val="dk1"/>
              </a:buClr>
              <a:buSzPts val="1800"/>
              <a:buFont typeface="Calibri"/>
              <a:buNone/>
            </a:pPr>
            <a:br>
              <a:rPr b="0" lang="en-IN"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rPr b="0" i="0" lang="en-IN" sz="1800" u="none" strike="noStrike">
                <a:solidFill>
                  <a:schemeClr val="dk1"/>
                </a:solidFill>
                <a:latin typeface="Calibri"/>
                <a:ea typeface="Calibri"/>
                <a:cs typeface="Calibri"/>
                <a:sym typeface="Calibri"/>
              </a:rPr>
              <a:t>warning_amber</a:t>
            </a:r>
            <a:r>
              <a:rPr b="1" i="0" lang="en-IN" sz="1800" u="none" strike="noStrike">
                <a:solidFill>
                  <a:schemeClr val="dk1"/>
                </a:solidFill>
                <a:latin typeface="Calibri"/>
                <a:ea typeface="Calibri"/>
                <a:cs typeface="Calibri"/>
                <a:sym typeface="Calibri"/>
              </a:rPr>
              <a:t>Why Existing Approaches Are Insufficient</a:t>
            </a:r>
            <a:endParaRPr b="0" sz="1800">
              <a:solidFill>
                <a:schemeClr val="dk1"/>
              </a:solidFill>
              <a:latin typeface="Calibri"/>
              <a:ea typeface="Calibri"/>
              <a:cs typeface="Calibri"/>
              <a:sym typeface="Calibri"/>
            </a:endParaRPr>
          </a:p>
          <a:p>
            <a:pPr indent="-342900" lvl="0" marL="342900" marR="0" rtl="0" algn="l">
              <a:spcBef>
                <a:spcPts val="1050"/>
              </a:spcBef>
              <a:spcAft>
                <a:spcPts val="0"/>
              </a:spcAft>
              <a:buClr>
                <a:schemeClr val="dk1"/>
              </a:buClr>
              <a:buSzPts val="1800"/>
              <a:buFont typeface="Arial"/>
              <a:buChar char="•"/>
            </a:pPr>
            <a:r>
              <a:rPr b="1" i="0" lang="en-IN" sz="1800" u="none" strike="noStrike">
                <a:solidFill>
                  <a:schemeClr val="dk1"/>
                </a:solidFill>
                <a:latin typeface="Calibri"/>
                <a:ea typeface="Calibri"/>
                <a:cs typeface="Calibri"/>
                <a:sym typeface="Calibri"/>
              </a:rPr>
              <a:t>ABR algorithms</a:t>
            </a:r>
            <a:r>
              <a:rPr b="0" i="0" lang="en-IN" sz="1800" u="none" strike="noStrike">
                <a:solidFill>
                  <a:schemeClr val="dk1"/>
                </a:solidFill>
                <a:latin typeface="Calibri"/>
                <a:ea typeface="Calibri"/>
                <a:cs typeface="Calibri"/>
                <a:sym typeface="Calibri"/>
              </a:rPr>
              <a:t> are standard for quality adjustment based on speed, but lag during sudden transitions.</a:t>
            </a:r>
            <a:endParaRPr/>
          </a:p>
          <a:p>
            <a:pPr indent="-342900" lvl="0" marL="342900" marR="0" rtl="0" algn="l">
              <a:spcBef>
                <a:spcPts val="750"/>
              </a:spcBef>
              <a:spcAft>
                <a:spcPts val="0"/>
              </a:spcAft>
              <a:buClr>
                <a:schemeClr val="dk1"/>
              </a:buClr>
              <a:buSzPts val="1800"/>
              <a:buFont typeface="Arial"/>
              <a:buChar char="•"/>
            </a:pPr>
            <a:r>
              <a:rPr b="0" i="0" lang="en-IN" sz="1800" u="none" strike="noStrike">
                <a:solidFill>
                  <a:schemeClr val="dk1"/>
                </a:solidFill>
                <a:latin typeface="Calibri"/>
                <a:ea typeface="Calibri"/>
                <a:cs typeface="Calibri"/>
                <a:sym typeface="Calibri"/>
              </a:rPr>
              <a:t>Rapid network drops leave current quality settings </a:t>
            </a:r>
            <a:r>
              <a:rPr b="1" i="0" lang="en-IN" sz="1800" u="none" strike="noStrike">
                <a:solidFill>
                  <a:schemeClr val="dk1"/>
                </a:solidFill>
                <a:latin typeface="Calibri"/>
                <a:ea typeface="Calibri"/>
                <a:cs typeface="Calibri"/>
                <a:sym typeface="Calibri"/>
              </a:rPr>
              <a:t>too high or too low</a:t>
            </a:r>
            <a:r>
              <a:rPr b="0" i="0" lang="en-IN" sz="1800" u="none" strike="noStrike">
                <a:solidFill>
                  <a:schemeClr val="dk1"/>
                </a:solidFill>
                <a:latin typeface="Calibri"/>
                <a:ea typeface="Calibri"/>
                <a:cs typeface="Calibri"/>
                <a:sym typeface="Calibri"/>
              </a:rPr>
              <a:t> for immediate playback needs.</a:t>
            </a:r>
            <a:endParaRPr/>
          </a:p>
          <a:p>
            <a:pPr indent="0" lvl="0" marL="0" marR="0" rtl="0" algn="l">
              <a:spcBef>
                <a:spcPts val="900"/>
              </a:spcBef>
              <a:spcAft>
                <a:spcPts val="0"/>
              </a:spcAft>
              <a:buClr>
                <a:schemeClr val="dk1"/>
              </a:buClr>
              <a:buSzPts val="1800"/>
              <a:buFont typeface="Calibri"/>
              <a:buNone/>
            </a:pPr>
            <a:r>
              <a:rPr b="1" i="0" lang="en-IN" sz="1800" u="none" strike="noStrike">
                <a:solidFill>
                  <a:schemeClr val="dk1"/>
                </a:solidFill>
                <a:latin typeface="Calibri"/>
                <a:ea typeface="Calibri"/>
                <a:cs typeface="Calibri"/>
                <a:sym typeface="Calibri"/>
              </a:rPr>
              <a:t>Example Scenario:</a:t>
            </a:r>
            <a:endParaRPr b="0" sz="1800">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800"/>
              <a:buFont typeface="Calibri"/>
              <a:buNone/>
            </a:pPr>
            <a:r>
              <a:rPr b="0" i="0" lang="en-IN" sz="1800" u="none" strike="noStrike">
                <a:solidFill>
                  <a:schemeClr val="dk1"/>
                </a:solidFill>
                <a:latin typeface="Calibri"/>
                <a:ea typeface="Calibri"/>
                <a:cs typeface="Calibri"/>
                <a:sym typeface="Calibri"/>
              </a:rPr>
              <a:t>If network speed suddenly drops from </a:t>
            </a:r>
            <a:r>
              <a:rPr b="1" i="0" lang="en-IN" sz="1800" u="none" strike="noStrike">
                <a:solidFill>
                  <a:schemeClr val="dk1"/>
                </a:solidFill>
                <a:latin typeface="Calibri"/>
                <a:ea typeface="Calibri"/>
                <a:cs typeface="Calibri"/>
                <a:sym typeface="Calibri"/>
              </a:rPr>
              <a:t>5 Mbps to 1 Mbps</a:t>
            </a:r>
            <a:r>
              <a:rPr b="0" i="0" lang="en-IN" sz="1800" u="none" strike="noStrike">
                <a:solidFill>
                  <a:schemeClr val="dk1"/>
                </a:solidFill>
                <a:latin typeface="Calibri"/>
                <a:ea typeface="Calibri"/>
                <a:cs typeface="Calibri"/>
                <a:sym typeface="Calibri"/>
              </a:rPr>
              <a:t>, fetching a high-quality segment takes too long, immediately causing video buffering.</a:t>
            </a:r>
            <a:endParaRPr b="0" sz="1800">
              <a:solidFill>
                <a:schemeClr val="dk1"/>
              </a:solidFill>
              <a:latin typeface="Calibri"/>
              <a:ea typeface="Calibri"/>
              <a:cs typeface="Calibri"/>
              <a:sym typeface="Calibri"/>
            </a:endParaRPr>
          </a:p>
          <a:p>
            <a:pPr indent="-342900" lvl="0" marL="342900" marR="0" rtl="0" algn="l">
              <a:spcBef>
                <a:spcPts val="1050"/>
              </a:spcBef>
              <a:spcAft>
                <a:spcPts val="0"/>
              </a:spcAft>
              <a:buClr>
                <a:schemeClr val="dk1"/>
              </a:buClr>
              <a:buSzPts val="1800"/>
              <a:buFont typeface="Arial"/>
              <a:buChar char="•"/>
            </a:pPr>
            <a:r>
              <a:rPr b="0" i="0" lang="en-IN" sz="1800" u="none" strike="noStrike">
                <a:solidFill>
                  <a:schemeClr val="dk1"/>
                </a:solidFill>
                <a:latin typeface="Calibri"/>
                <a:ea typeface="Calibri"/>
                <a:cs typeface="Calibri"/>
                <a:sym typeface="Calibri"/>
              </a:rPr>
              <a:t>Continuous small fluctuations cause constant quality switching, ruining playback stability.</a:t>
            </a:r>
            <a:endParaRPr/>
          </a:p>
          <a:p>
            <a:pPr indent="0" lvl="0" marL="0" marR="0" rtl="0" algn="l">
              <a:spcBef>
                <a:spcPts val="0"/>
              </a:spcBef>
              <a:spcAft>
                <a:spcPts val="0"/>
              </a:spcAft>
              <a:buClr>
                <a:schemeClr val="dk1"/>
              </a:buClr>
              <a:buSzPts val="1800"/>
              <a:buFont typeface="Calibri"/>
              <a:buNone/>
            </a:pPr>
            <a:br>
              <a:rPr b="0" lang="en-IN"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rPr b="1" i="0" lang="en-IN" sz="1800" u="none" strike="noStrike">
                <a:solidFill>
                  <a:schemeClr val="dk1"/>
                </a:solidFill>
                <a:latin typeface="Calibri"/>
                <a:ea typeface="Calibri"/>
                <a:cs typeface="Calibri"/>
                <a:sym typeface="Calibri"/>
              </a:rPr>
              <a:t>CORE CHALLENGE</a:t>
            </a:r>
            <a:endParaRPr b="0" sz="1800">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800"/>
              <a:buFont typeface="Calibri"/>
              <a:buNone/>
            </a:pPr>
            <a:r>
              <a:rPr b="0" i="0" lang="en-IN" sz="1800" u="none" strike="noStrike">
                <a:solidFill>
                  <a:schemeClr val="dk1"/>
                </a:solidFill>
                <a:latin typeface="Calibri"/>
                <a:ea typeface="Calibri"/>
                <a:cs typeface="Calibri"/>
                <a:sym typeface="Calibri"/>
              </a:rPr>
              <a:t>Maintaining an optimal balance between high </a:t>
            </a:r>
            <a:r>
              <a:rPr b="1" i="0" lang="en-IN" sz="1800" u="none" strike="noStrike">
                <a:solidFill>
                  <a:schemeClr val="dk1"/>
                </a:solidFill>
                <a:latin typeface="Calibri"/>
                <a:ea typeface="Calibri"/>
                <a:cs typeface="Calibri"/>
                <a:sym typeface="Calibri"/>
              </a:rPr>
              <a:t>video quality</a:t>
            </a:r>
            <a:r>
              <a:rPr b="0" i="0" lang="en-IN" sz="1800" u="none" strike="noStrike">
                <a:solidFill>
                  <a:schemeClr val="dk1"/>
                </a:solidFill>
                <a:latin typeface="Calibri"/>
                <a:ea typeface="Calibri"/>
                <a:cs typeface="Calibri"/>
                <a:sym typeface="Calibri"/>
              </a:rPr>
              <a:t> and continuous, </a:t>
            </a:r>
            <a:r>
              <a:rPr b="1" i="0" lang="en-IN" sz="1800" u="none" strike="noStrike">
                <a:solidFill>
                  <a:schemeClr val="dk1"/>
                </a:solidFill>
                <a:latin typeface="Calibri"/>
                <a:ea typeface="Calibri"/>
                <a:cs typeface="Calibri"/>
                <a:sym typeface="Calibri"/>
              </a:rPr>
              <a:t>smooth playback</a:t>
            </a:r>
            <a:r>
              <a:rPr b="0" i="0" lang="en-IN" sz="1800" u="none" strike="noStrike">
                <a:solidFill>
                  <a:schemeClr val="dk1"/>
                </a:solidFill>
                <a:latin typeface="Calibri"/>
                <a:ea typeface="Calibri"/>
                <a:cs typeface="Calibri"/>
                <a:sym typeface="Calibri"/>
              </a:rPr>
              <a:t> under changing network conditions.</a:t>
            </a: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br>
              <a:rPr b="0" lang="en-IN"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a:p>
            <a:pPr indent="0" lvl="0" marL="0" marR="0" rtl="0" algn="r">
              <a:spcBef>
                <a:spcPts val="0"/>
              </a:spcBef>
              <a:spcAft>
                <a:spcPts val="0"/>
              </a:spcAft>
              <a:buClr>
                <a:schemeClr val="dk1"/>
              </a:buClr>
              <a:buSzPts val="1800"/>
              <a:buFont typeface="Calibri"/>
              <a:buNone/>
            </a:pPr>
            <a:r>
              <a:rPr b="0" i="0" lang="en-IN" sz="1800" u="none" strike="noStrike">
                <a:solidFill>
                  <a:schemeClr val="dk1"/>
                </a:solidFill>
                <a:latin typeface="Calibri"/>
                <a:ea typeface="Calibri"/>
                <a:cs typeface="Calibri"/>
                <a:sym typeface="Calibri"/>
              </a:rPr>
              <a:t>2</a:t>
            </a: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br>
              <a:rPr b="0" lang="en-IN"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rPr b="0" i="0" lang="en-IN" sz="1800" u="none" strike="noStrike">
                <a:solidFill>
                  <a:schemeClr val="dk1"/>
                </a:solidFill>
                <a:latin typeface="Calibri"/>
                <a:ea typeface="Calibri"/>
                <a:cs typeface="Calibri"/>
                <a:sym typeface="Calibri"/>
              </a:rPr>
              <a:t>11-09-2026</a:t>
            </a: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br>
              <a:rPr b="0" lang="en-IN"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Calibri"/>
              <a:buNone/>
            </a:pPr>
            <a:r>
              <a:rPr b="0" i="0" lang="en-IN" sz="1800" u="none" strike="noStrike">
                <a:solidFill>
                  <a:schemeClr val="dk1"/>
                </a:solidFill>
                <a:latin typeface="Calibri"/>
                <a:ea typeface="Calibri"/>
                <a:cs typeface="Calibri"/>
                <a:sym typeface="Calibri"/>
              </a:rPr>
              <a:t>Department of Computer Science and Engineering</a:t>
            </a: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br>
              <a:rPr lang="en-IN"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pic>
        <p:nvPicPr>
          <p:cNvPr id="233" name="Google Shape;233;p14"/>
          <p:cNvPicPr preferRelativeResize="0"/>
          <p:nvPr/>
        </p:nvPicPr>
        <p:blipFill rotWithShape="1">
          <a:blip r:embed="rId3">
            <a:alphaModFix/>
          </a:blip>
          <a:srcRect b="0" l="0" r="0" t="0"/>
          <a:stretch/>
        </p:blipFill>
        <p:spPr>
          <a:xfrm>
            <a:off x="3190875" y="2338852"/>
            <a:ext cx="3981682" cy="466725"/>
          </a:xfrm>
          <a:prstGeom prst="rect">
            <a:avLst/>
          </a:prstGeom>
          <a:noFill/>
          <a:ln>
            <a:noFill/>
          </a:ln>
        </p:spPr>
      </p:pic>
      <p:pic>
        <p:nvPicPr>
          <p:cNvPr id="234" name="Google Shape;234;p14"/>
          <p:cNvPicPr preferRelativeResize="0"/>
          <p:nvPr/>
        </p:nvPicPr>
        <p:blipFill rotWithShape="1">
          <a:blip r:embed="rId4">
            <a:alphaModFix/>
          </a:blip>
          <a:srcRect b="0" l="0" r="0" t="0"/>
          <a:stretch/>
        </p:blipFill>
        <p:spPr>
          <a:xfrm>
            <a:off x="0" y="27432"/>
            <a:ext cx="9144000" cy="5088636"/>
          </a:xfrm>
          <a:prstGeom prst="rect">
            <a:avLst/>
          </a:prstGeom>
          <a:noFill/>
          <a:ln>
            <a:noFill/>
          </a:ln>
        </p:spPr>
      </p:pic>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Basavva Sangenaver</dc:creator>
</cp:coreProperties>
</file>