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gAXDYvoIDx761czHKjuhDTh3Ip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52836B8-A305-423C-8228-5396841C9FF6}">
  <a:tblStyle styleId="{352836B8-A305-423C-8228-5396841C9FF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h6731374201e6f2eb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" name="Google Shape;50;h6731374201e6f2eb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h6731374201e6f2eb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h4451f45ef47a0c1b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h4451f45ef47a0c1b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h4451f45ef47a0c1b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h671dbda95eb6d62d_0_5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h671dbda95eb6d62d_0_5:notes"/>
          <p:cNvSpPr/>
          <p:nvPr>
            <p:ph idx="2" type="sldImg"/>
          </p:nvPr>
        </p:nvSpPr>
        <p:spPr>
          <a:xfrm>
            <a:off x="285975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bg>
      <p:bgPr>
        <a:solidFill>
          <a:srgbClr val="FFFFFF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.png" id="13" name="Google Shape;13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095744" y="173736"/>
            <a:ext cx="1828800" cy="57607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" name="Google Shape;14;p16"/>
          <p:cNvCxnSpPr/>
          <p:nvPr/>
        </p:nvCxnSpPr>
        <p:spPr>
          <a:xfrm>
            <a:off x="192024" y="896112"/>
            <a:ext cx="8302752" cy="0"/>
          </a:xfrm>
          <a:prstGeom prst="straightConnector1">
            <a:avLst/>
          </a:prstGeom>
          <a:noFill/>
          <a:ln cap="flat" cmpd="sng" w="12700">
            <a:solidFill>
              <a:srgbClr val="ED7D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" name="Google Shape;15;p16"/>
          <p:cNvSpPr txBox="1"/>
          <p:nvPr>
            <p:ph type="title"/>
          </p:nvPr>
        </p:nvSpPr>
        <p:spPr>
          <a:xfrm>
            <a:off x="301752" y="274320"/>
            <a:ext cx="6675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  <a:defRPr b="1" i="0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h671dbda95eb6d62d_0_9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h671dbda95eb6d62d_0_9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h671dbda95eb6d62d_0_9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jp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.png" id="26" name="Google Shape;2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83280" y="109728"/>
            <a:ext cx="2377440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1"/>
          <p:cNvSpPr txBox="1"/>
          <p:nvPr/>
        </p:nvSpPr>
        <p:spPr>
          <a:xfrm>
            <a:off x="365760" y="731520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Times New Roman"/>
              <a:buNone/>
            </a:pPr>
            <a:r>
              <a:rPr b="1" i="0" lang="en-US" sz="1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 -AI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" name="Google Shape;28;p1"/>
          <p:cNvSpPr txBox="1"/>
          <p:nvPr/>
        </p:nvSpPr>
        <p:spPr>
          <a:xfrm>
            <a:off x="365760" y="1051560"/>
            <a:ext cx="8412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THEME NO: 03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" name="Google Shape;29;p1"/>
          <p:cNvSpPr txBox="1"/>
          <p:nvPr/>
        </p:nvSpPr>
        <p:spPr>
          <a:xfrm>
            <a:off x="365760" y="1389888"/>
            <a:ext cx="8412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Adaptive Video Streaming &amp; Buffer Management Engine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" name="Google Shape;30;p1"/>
          <p:cNvSpPr txBox="1"/>
          <p:nvPr/>
        </p:nvSpPr>
        <p:spPr>
          <a:xfrm>
            <a:off x="365760" y="182880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None/>
            </a:pPr>
            <a:r>
              <a:rPr b="0" i="1" lang="en-US" sz="1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S1 Functional Requirements Engineering</a:t>
            </a:r>
            <a:endParaRPr b="0" i="0" sz="1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" name="Google Shape;31;p1"/>
          <p:cNvSpPr txBox="1"/>
          <p:nvPr/>
        </p:nvSpPr>
        <p:spPr>
          <a:xfrm>
            <a:off x="365760" y="2194560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NO:14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2" name="Google Shape;32;p1"/>
          <p:cNvGraphicFramePr/>
          <p:nvPr/>
        </p:nvGraphicFramePr>
        <p:xfrm>
          <a:off x="1463040" y="25603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{352836B8-A305-423C-8228-5396841C9FF6}</a:tableStyleId>
              </a:tblPr>
              <a:tblGrid>
                <a:gridCol w="822950"/>
                <a:gridCol w="2194550"/>
                <a:gridCol w="1188725"/>
                <a:gridCol w="2011675"/>
              </a:tblGrid>
              <a:tr h="246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Times New Roman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Sl.no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Times New Roman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Times New Roman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Roll.no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Times New Roman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USN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0AD47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Divya Kumari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222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01FE24BCI094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6E6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Akshay Bhat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210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01FE24BCI024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Renuka Kagadal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243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01FE24BCI119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6E6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 Bhagyashree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01FE24BCI104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Google Shape;33;p1"/>
          <p:cNvSpPr txBox="1"/>
          <p:nvPr/>
        </p:nvSpPr>
        <p:spPr>
          <a:xfrm>
            <a:off x="365760" y="411480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Guide: Amit Kachavimath , Department of CSE-AI</a:t>
            </a:r>
            <a:endParaRPr b="0" i="0" sz="1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 txBox="1"/>
          <p:nvPr>
            <p:ph type="title"/>
          </p:nvPr>
        </p:nvSpPr>
        <p:spPr>
          <a:xfrm>
            <a:off x="301752" y="274320"/>
            <a:ext cx="6675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1"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Engine Summary</a:t>
            </a:r>
            <a:endParaRPr sz="2600"/>
          </a:p>
        </p:txBody>
      </p:sp>
      <p:graphicFrame>
        <p:nvGraphicFramePr>
          <p:cNvPr id="40" name="Google Shape;40;p2"/>
          <p:cNvGraphicFramePr/>
          <p:nvPr/>
        </p:nvGraphicFramePr>
        <p:xfrm>
          <a:off x="301752" y="1188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{352836B8-A305-423C-8228-5396841C9FF6}</a:tableStyleId>
              </a:tblPr>
              <a:tblGrid>
                <a:gridCol w="411475"/>
                <a:gridCol w="1920250"/>
                <a:gridCol w="1554475"/>
                <a:gridCol w="3474725"/>
                <a:gridCol w="1179575"/>
              </a:tblGrid>
              <a:tr h="158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Times New Roman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</a:t>
                      </a:r>
                      <a:endParaRPr sz="12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Times New Roman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Engine Name</a:t>
                      </a:r>
                      <a:endParaRPr sz="12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Times New Roman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Major Course</a:t>
                      </a:r>
                      <a:endParaRPr sz="12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Times New Roman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Primary Responsibility</a:t>
                      </a:r>
                      <a:endParaRPr sz="12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Times New Roman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Owner</a:t>
                      </a:r>
                      <a:endParaRPr sz="12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0AD47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Network Condition &amp; Communication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Computer Networks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Process bandwidth traces; 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TCP socket communication; carry chunk requests and data;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andle timeouts and retries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Divya Kumari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E2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Video Segmentation &amp; Chunk Delivery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Computer Networks, Data Structures</a:t>
                      </a: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DBMS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Split video into chunks; 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</a:t>
                      </a: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ultiple bitrate versions; 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</a:t>
                      </a: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tore chunk metadata; 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provide requested chunks through TCP sockets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Renuka Kagadal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E3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Throughput Estimation &amp; ABR Decision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 Structures &amp; Algorithms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Measure chunk download time; 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stimate throughput; 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 the selected ABR algorithm; 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</a:t>
                      </a: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elect next chunk bitrate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Akshay Bhat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E4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>
                          <a:solidFill>
                            <a:srgbClr val="20202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Priority Scheduling ,&amp; Concurrent Resource Management Engine </a:t>
                      </a:r>
                      <a:endParaRPr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Operating Systems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rgbClr val="20202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Schedule client requests by Gold/Silver priority without starvation, run them on a bounded worker pool, and keep the shared queues, chunk cache and playback buffer consistent and within configured limits.</a:t>
                      </a:r>
                      <a:endParaRPr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 Bhagyashree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1" name="Google Shape;41;p2"/>
          <p:cNvSpPr txBox="1"/>
          <p:nvPr>
            <p:ph idx="4294967295" type="sldNum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900" u="none" cap="none" strike="noStrike">
              <a:solidFill>
                <a:srgbClr val="7F7F7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49875"/>
            <a:ext cx="8839203" cy="44041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h6731374201e6f2eb_0_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3" cy="35344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"/>
          <p:cNvSpPr txBox="1"/>
          <p:nvPr>
            <p:ph type="title"/>
          </p:nvPr>
        </p:nvSpPr>
        <p:spPr>
          <a:xfrm>
            <a:off x="301752" y="274320"/>
            <a:ext cx="6675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1"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Non-Functional Requirements (SRS)</a:t>
            </a:r>
            <a:endParaRPr sz="2600"/>
          </a:p>
        </p:txBody>
      </p:sp>
      <p:graphicFrame>
        <p:nvGraphicFramePr>
          <p:cNvPr id="60" name="Google Shape;60;p4"/>
          <p:cNvGraphicFramePr/>
          <p:nvPr/>
        </p:nvGraphicFramePr>
        <p:xfrm>
          <a:off x="301752" y="10515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{352836B8-A305-423C-8228-5396841C9FF6}</a:tableStyleId>
              </a:tblPr>
              <a:tblGrid>
                <a:gridCol w="640075"/>
                <a:gridCol w="1371600"/>
                <a:gridCol w="2651750"/>
                <a:gridCol w="3877050"/>
              </a:tblGrid>
              <a:tr h="146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Times New Roman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NFR ID</a:t>
                      </a:r>
                      <a:endParaRPr sz="11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Times New Roman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Category</a:t>
                      </a:r>
                      <a:endParaRPr sz="11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Times New Roman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Requirement</a:t>
                      </a:r>
                      <a:endParaRPr sz="11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Times New Roman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Measurable Target</a:t>
                      </a:r>
                      <a:endParaRPr sz="11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0AD47"/>
                    </a:solidFill>
                  </a:tcPr>
                </a:tc>
              </a:tr>
              <a:tr h="26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NFR1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Performance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800">
                          <a:solidFill>
                            <a:srgbClr val="20202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The system shall minimize video buffering during playback.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9BB7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Rebuffering ratio ≤ 5% of playback time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15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NFR2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Accuracy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9BB7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20202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The system shall provide accurate estimation of the available network bandwidth</a:t>
                      </a:r>
                      <a:endParaRPr sz="800">
                        <a:solidFill>
                          <a:srgbClr val="202020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44450" marB="44450" marR="50800" marL="50800" anchor="ctr">
                    <a:lnL cap="flat" cmpd="sng" w="6350">
                      <a:solidFill>
                        <a:srgbClr val="9BB7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9BB7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9BB7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9BB7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Estimation error ≤ 20% of actual bandwidth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6350">
                      <a:solidFill>
                        <a:srgbClr val="9BB7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5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NFR3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Reliability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800">
                          <a:solidFill>
                            <a:srgbClr val="20202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The system shall provide reliable video streaming without unexpected application termination or unrecovered connection failure. 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9BB7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≥ 95% of sessions complete successfully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30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NFR4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Quality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800">
                          <a:solidFill>
                            <a:srgbClr val="20202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The system shall maintain stable video quality and minimize frequent bitrate changes..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9BB7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more than 6 bitrate switches per minute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5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NFR5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Resource usage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9BB7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20202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The system shall use system resources efficiently during video streaming. </a:t>
                      </a:r>
                      <a:endParaRPr sz="800">
                        <a:solidFill>
                          <a:srgbClr val="202020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44450" marB="44450" marR="50800" marL="50800" anchor="ctr">
                    <a:lnL cap="flat" cmpd="sng" w="6350">
                      <a:solidFill>
                        <a:srgbClr val="9BB7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9BB7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9BB7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9BB7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Buffer ≤ 30 s of video; cache within configured limit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6350">
                      <a:solidFill>
                        <a:srgbClr val="9BB7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90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NFR6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Responsiveness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9BB7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20202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The system shall respond to changes in network conditions without significantly affecting playback quality. </a:t>
                      </a:r>
                      <a:endParaRPr sz="800">
                        <a:solidFill>
                          <a:srgbClr val="202020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44450" marB="44450" marR="50800" marL="50800" anchor="ctr">
                    <a:lnL cap="flat" cmpd="sng" w="6350">
                      <a:solidFill>
                        <a:srgbClr val="9BB7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9BB7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9BB7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9BB7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Bitrate adjusts within 3 chunks of a big bandwidth change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6350">
                      <a:solidFill>
                        <a:srgbClr val="9BB7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23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NFR7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Maintainability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800">
                          <a:solidFill>
                            <a:srgbClr val="20202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The system shall maintain a modular structure so that individual components can be independently tested and maintained. 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9BB7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Networking, ABR, buffer, cache, playback, QoE modules separately testable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29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NFR8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Extensibility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800">
                          <a:solidFill>
                            <a:srgbClr val="20202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The system shall allow new ABR algorithms to be integrated without modifying the core streaming components. 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New ABR needs ≤ 2 dedicated modules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53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NFR9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Reproducibility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800">
                          <a:solidFill>
                            <a:srgbClr val="20202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The system shall produce consistent results when the same experiment is repeated under equivalent conditions.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QoE varies ≤ ±5% across 3 runs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NFR10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Usability &amp; integrity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800">
                          <a:solidFill>
                            <a:srgbClr val="20202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The system shall provide accurate and understandable monitoring of streaming experiments. 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Times New Roman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≥ 99% of download events logged; live buffer graph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1" name="Google Shape;61;p4"/>
          <p:cNvSpPr txBox="1"/>
          <p:nvPr>
            <p:ph idx="4294967295" type="sldNum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900" u="none" cap="none" strike="noStrike">
              <a:solidFill>
                <a:srgbClr val="7F7F7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"/>
          <p:cNvSpPr txBox="1"/>
          <p:nvPr>
            <p:ph type="title"/>
          </p:nvPr>
        </p:nvSpPr>
        <p:spPr>
          <a:xfrm>
            <a:off x="301752" y="274320"/>
            <a:ext cx="6675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1"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Cases / User Stories</a:t>
            </a:r>
            <a:endParaRPr sz="2600"/>
          </a:p>
        </p:txBody>
      </p:sp>
      <p:graphicFrame>
        <p:nvGraphicFramePr>
          <p:cNvPr id="68" name="Google Shape;68;p5"/>
          <p:cNvGraphicFramePr/>
          <p:nvPr/>
        </p:nvGraphicFramePr>
        <p:xfrm>
          <a:off x="301752" y="10241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{352836B8-A305-423C-8228-5396841C9FF6}</a:tableStyleId>
              </a:tblPr>
              <a:tblGrid>
                <a:gridCol w="502925"/>
                <a:gridCol w="914400"/>
                <a:gridCol w="4206250"/>
                <a:gridCol w="2916925"/>
              </a:tblGrid>
              <a:tr h="13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Times New Roman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Times New Roman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Actor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Times New Roman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User Story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Times New Roman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Exception Flow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0AD47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UC1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Developer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 a developer, I want the video split into chunks at multiple bitrates so that the client can switch quality during streaming.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Missing or corrupt chunk: flagged and regenerated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UC2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Viewer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 a viewer, I want the video to start quickly after I press play so that I don't have to wait.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Server unreachable: retry, then show error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UC3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Viewer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 a viewer, I want the quality chosen automatically so that I never have to adjust it manually.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Noisy or missing reading: use last value or lowest quality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UC4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Viewer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 a viewer, I want the next chunk downloaded while the current one plays so that playback is smooth.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Buffer empty: pause, log stall, resume after refill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UC5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Viewer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 a viewer, I want quality to drop automatically when the network slows so that the video keeps playing.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Buffer still empties: rebuffer, then resume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UC6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Viewer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 a viewer, I want quality to stay steady during small network changes so that it doesn't keep flickering.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Rapid oscillation: switch-limit rule prevents thrashing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UC7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Video Server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 the video server, I want to deliver the exact chunk requested so that playback continues in order.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Chunk not found or timeout: return error, client retries or lowers quality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UC8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Video Server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 the video server, I want to handle several viewers at once so that one viewer doesn't slow down others.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Overload: slower responses, load recorded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UC9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Tester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 a tester, I want to replay a changing network and run stress tests so that I can check behaviour under bad conditions.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Invalid or empty trace: reject with a message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UC10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Tester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 a tester, I want to see KPIs and a live buffer graph so that I can judge streaming performance.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Incomplete log: report flags the gap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9" name="Google Shape;69;p5"/>
          <p:cNvSpPr txBox="1"/>
          <p:nvPr>
            <p:ph idx="4294967295" type="sldNum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900" u="none" cap="none" strike="noStrike">
              <a:solidFill>
                <a:srgbClr val="7F7F7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"/>
          <p:cNvSpPr txBox="1"/>
          <p:nvPr>
            <p:ph type="title"/>
          </p:nvPr>
        </p:nvSpPr>
        <p:spPr>
          <a:xfrm>
            <a:off x="301752" y="274320"/>
            <a:ext cx="6675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1"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Case Diagram</a:t>
            </a:r>
            <a:endParaRPr sz="2600"/>
          </a:p>
        </p:txBody>
      </p:sp>
      <p:sp>
        <p:nvSpPr>
          <p:cNvPr id="76" name="Google Shape;76;p6"/>
          <p:cNvSpPr txBox="1"/>
          <p:nvPr>
            <p:ph idx="4294967295" type="sldNum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900" u="none" cap="none" strike="noStrike">
              <a:solidFill>
                <a:srgbClr val="7F7F7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7" name="Google Shape;77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99550"/>
            <a:ext cx="7892751" cy="4294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7"/>
          <p:cNvSpPr txBox="1"/>
          <p:nvPr>
            <p:ph type="title"/>
          </p:nvPr>
        </p:nvSpPr>
        <p:spPr>
          <a:xfrm>
            <a:off x="301752" y="274320"/>
            <a:ext cx="6675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1"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 Priority</a:t>
            </a:r>
            <a:endParaRPr sz="2600"/>
          </a:p>
        </p:txBody>
      </p:sp>
      <p:sp>
        <p:nvSpPr>
          <p:cNvPr id="84" name="Google Shape;84;p7"/>
          <p:cNvSpPr txBox="1"/>
          <p:nvPr/>
        </p:nvSpPr>
        <p:spPr>
          <a:xfrm>
            <a:off x="301752" y="109728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5723"/>
              </a:buClr>
              <a:buSzPts val="1600"/>
              <a:buFont typeface="Times New Roman"/>
              <a:buNone/>
            </a:pPr>
            <a:r>
              <a:rPr b="1" i="0" lang="en-US" sz="1600" u="none" cap="none" strike="noStrike">
                <a:solidFill>
                  <a:srgbClr val="3857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Mandatory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7"/>
          <p:cNvSpPr txBox="1"/>
          <p:nvPr/>
        </p:nvSpPr>
        <p:spPr>
          <a:xfrm>
            <a:off x="301750" y="1463051"/>
            <a:ext cx="4114800" cy="35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-US" sz="1300">
                <a:latin typeface="Times New Roman"/>
                <a:ea typeface="Times New Roman"/>
                <a:cs typeface="Times New Roman"/>
                <a:sym typeface="Times New Roman"/>
              </a:rPr>
              <a:t>FR-01 to FR-13: TCP server, multi-bitrate chunks, Gold/Silver scheduling, cache, worker pool, ABR, buffer, playback control, metrics, comparison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-US" sz="1300">
                <a:latin typeface="Times New Roman"/>
                <a:ea typeface="Times New Roman"/>
                <a:cs typeface="Times New Roman"/>
                <a:sym typeface="Times New Roman"/>
              </a:rPr>
              <a:t>NFR-01 Concurrency (≥ 10 clients)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-US" sz="1300">
                <a:latin typeface="Times New Roman"/>
                <a:ea typeface="Times New Roman"/>
                <a:cs typeface="Times New Roman"/>
                <a:sym typeface="Times New Roman"/>
              </a:rPr>
              <a:t>NFR-02 Latency (median, p95)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-US" sz="1300">
                <a:latin typeface="Times New Roman"/>
                <a:ea typeface="Times New Roman"/>
                <a:cs typeface="Times New Roman"/>
                <a:sym typeface="Times New Roman"/>
              </a:rPr>
              <a:t>NFR-03 Fairness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-US" sz="1300">
                <a:latin typeface="Times New Roman"/>
                <a:ea typeface="Times New Roman"/>
                <a:cs typeface="Times New Roman"/>
                <a:sym typeface="Times New Roman"/>
              </a:rPr>
              <a:t>NFR-04 Cache efficiency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-US" sz="1300">
                <a:latin typeface="Times New Roman"/>
                <a:ea typeface="Times New Roman"/>
                <a:cs typeface="Times New Roman"/>
                <a:sym typeface="Times New Roman"/>
              </a:rPr>
              <a:t>NFR-05 Client QoE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-US" sz="1300">
                <a:latin typeface="Times New Roman"/>
                <a:ea typeface="Times New Roman"/>
                <a:cs typeface="Times New Roman"/>
                <a:sym typeface="Times New Roman"/>
              </a:rPr>
              <a:t>NFR-06 Resource limits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-US" sz="1300">
                <a:latin typeface="Times New Roman"/>
                <a:ea typeface="Times New Roman"/>
                <a:cs typeface="Times New Roman"/>
                <a:sym typeface="Times New Roman"/>
              </a:rPr>
              <a:t>NFR-07 Synchronization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-US" sz="1300">
                <a:latin typeface="Times New Roman"/>
                <a:ea typeface="Times New Roman"/>
                <a:cs typeface="Times New Roman"/>
                <a:sym typeface="Times New Roman"/>
              </a:rPr>
              <a:t>NFR-08 Reliability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-US" sz="1300">
                <a:latin typeface="Times New Roman"/>
                <a:ea typeface="Times New Roman"/>
                <a:cs typeface="Times New Roman"/>
                <a:sym typeface="Times New Roman"/>
              </a:rPr>
              <a:t>NFR-10 Measurability (≥ 3 runs)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7"/>
          <p:cNvSpPr txBox="1"/>
          <p:nvPr/>
        </p:nvSpPr>
        <p:spPr>
          <a:xfrm>
            <a:off x="4663440" y="109728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5723"/>
              </a:buClr>
              <a:buSzPts val="1600"/>
              <a:buFont typeface="Times New Roman"/>
              <a:buNone/>
            </a:pPr>
            <a:r>
              <a:rPr b="1" i="0" lang="en-US" sz="1600" u="none" cap="none" strike="noStrike">
                <a:solidFill>
                  <a:srgbClr val="3857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Challenge / Stretch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7"/>
          <p:cNvSpPr txBox="1"/>
          <p:nvPr/>
        </p:nvSpPr>
        <p:spPr>
          <a:xfrm>
            <a:off x="4663440" y="1463040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Char char="•"/>
            </a:pPr>
            <a:r>
              <a:rPr lang="en-US" sz="1300">
                <a:latin typeface="Times New Roman"/>
                <a:ea typeface="Times New Roman"/>
                <a:cs typeface="Times New Roman"/>
                <a:sym typeface="Times New Roman"/>
              </a:rPr>
              <a:t>NFR-09 Scalability (1, 5, 10 clients) </a:t>
            </a:r>
            <a:endParaRPr b="0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7"/>
          <p:cNvSpPr txBox="1"/>
          <p:nvPr>
            <p:ph idx="4294967295" type="sldNum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900" u="none" cap="none" strike="noStrike">
              <a:solidFill>
                <a:srgbClr val="7F7F7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9"/>
          <p:cNvSpPr txBox="1"/>
          <p:nvPr>
            <p:ph type="title"/>
          </p:nvPr>
        </p:nvSpPr>
        <p:spPr>
          <a:xfrm>
            <a:off x="301752" y="274320"/>
            <a:ext cx="6675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1"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 Clustering Sheet</a:t>
            </a:r>
            <a:endParaRPr sz="2600"/>
          </a:p>
        </p:txBody>
      </p:sp>
      <p:graphicFrame>
        <p:nvGraphicFramePr>
          <p:cNvPr id="95" name="Google Shape;95;p9"/>
          <p:cNvGraphicFramePr/>
          <p:nvPr/>
        </p:nvGraphicFramePr>
        <p:xfrm>
          <a:off x="301752" y="1188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{352836B8-A305-423C-8228-5396841C9FF6}</a:tableStyleId>
              </a:tblPr>
              <a:tblGrid>
                <a:gridCol w="822950"/>
                <a:gridCol w="2194550"/>
                <a:gridCol w="1554475"/>
                <a:gridCol w="2703600"/>
                <a:gridCol w="1264900"/>
              </a:tblGrid>
              <a:tr h="158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Times New Roman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Cluster ID</a:t>
                      </a:r>
                      <a:endParaRPr sz="12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Times New Roman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Cluster / Responsibility Area</a:t>
                      </a:r>
                      <a:endParaRPr sz="12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Times New Roman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Requirement IDs</a:t>
                      </a:r>
                      <a:endParaRPr sz="12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Times New Roman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Common Technical Responsibility</a:t>
                      </a:r>
                      <a:endParaRPr sz="12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Times New Roman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Engine</a:t>
                      </a:r>
                      <a:endParaRPr sz="12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0AD4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C01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Network Condition &amp; Communication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b="1" lang="en-US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US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Computer Networks)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FR-02, FR-03, FR-09, NFR-05 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Manage network conditions and reliable client-server chunk communication 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E1 – Network &amp; Communication 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C02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Video Segmentation &amp; Chunk Delivery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b="1" lang="en-US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US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Computer Networks, Data Structures, DBMS)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FR-01, FR-04 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Prepare, organize and provide video chunks at multiple quality levels 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E2 – Segmentation &amp; Chunk Delivery 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C03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Throughput Estimation &amp; ABR Decision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b="1" lang="en-US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US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 Structures &amp; Algorithms)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FR-04, FR-05, FR-06, FR-07, FR-08, NFR-01, NFR-05, NFR-07 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Estimate throughput and select the appropriate bitrate using ABR 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E3 – Throughput Estimation &amp; ABR Decision 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C04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Playback Buffer &amp; Performance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b="1" lang="en-US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US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Operating Systems, DBMS)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FR-09, FR-10, FR-11, FR-12, FR-13, FR-14, NFR-08, NFR-09 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Manage playback buffer, caching, playback continuity and performance/QoE measurement 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E4 – Playback Buffer &amp; Cache Management 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50800" marL="50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6" name="Google Shape;96;p9"/>
          <p:cNvSpPr txBox="1"/>
          <p:nvPr>
            <p:ph idx="4294967295" type="sldNum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900" u="none" cap="none" strike="noStrike">
              <a:solidFill>
                <a:srgbClr val="7F7F7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0"/>
          <p:cNvSpPr txBox="1"/>
          <p:nvPr>
            <p:ph type="title"/>
          </p:nvPr>
        </p:nvSpPr>
        <p:spPr>
          <a:xfrm>
            <a:off x="301752" y="274320"/>
            <a:ext cx="6675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1"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Engine 01: Network &amp; Communication</a:t>
            </a:r>
            <a:endParaRPr sz="2600"/>
          </a:p>
        </p:txBody>
      </p:sp>
      <p:sp>
        <p:nvSpPr>
          <p:cNvPr id="103" name="Google Shape;103;p10"/>
          <p:cNvSpPr txBox="1"/>
          <p:nvPr/>
        </p:nvSpPr>
        <p:spPr>
          <a:xfrm>
            <a:off x="301752" y="960120"/>
            <a:ext cx="8503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r>
              <a:rPr b="0" i="1" lang="en-US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Owner: Divya Kumari (01FE24BCI094)   |   Requirements: C1 — FR2, FR3, FR9, NFR5</a:t>
            </a:r>
            <a:endParaRPr b="0"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10"/>
          <p:cNvSpPr txBox="1"/>
          <p:nvPr/>
        </p:nvSpPr>
        <p:spPr>
          <a:xfrm>
            <a:off x="301752" y="1280160"/>
            <a:ext cx="41148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5723"/>
              </a:buClr>
              <a:buSzPts val="1450"/>
              <a:buFont typeface="Times New Roman"/>
              <a:buNone/>
            </a:pPr>
            <a:r>
              <a:rPr b="1" i="0" lang="en-US" sz="1450" u="none" cap="none" strike="noStrike">
                <a:solidFill>
                  <a:srgbClr val="3857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 Purpose</a:t>
            </a:r>
            <a:endParaRPr b="0" i="0" sz="14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0" marL="1143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Char char="•"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Manages network communication between the server PC and client PC using TCP sockets</a:t>
            </a:r>
            <a:endParaRPr b="0" i="0" sz="14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0" marL="1143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Char char="•"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Processes the bandwidth trace to control the transmission rate</a:t>
            </a:r>
            <a:endParaRPr b="0" i="0" sz="14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0" marL="1143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Char char="•"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Handles connection failures, timeouts and retries</a:t>
            </a:r>
            <a:endParaRPr b="0" i="0" sz="13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385723"/>
              </a:buClr>
              <a:buSzPts val="1450"/>
              <a:buFont typeface="Times New Roman"/>
              <a:buNone/>
            </a:pPr>
            <a:r>
              <a:rPr b="1" i="0" lang="en-US" sz="1450" u="none" cap="none" strike="noStrike">
                <a:solidFill>
                  <a:srgbClr val="3857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 Responsibility and boundary</a:t>
            </a:r>
            <a:endParaRPr b="0" i="0" sz="14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0" marL="1143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Char char="•"/>
            </a:pPr>
            <a:r>
              <a:rPr b="0" i="0" lang="en-US" sz="13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Owns</a:t>
            </a: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trace processing, rate control, TCP communication, chunk request/transfer, timeout and retry handling, network logging</a:t>
            </a:r>
            <a:endParaRPr b="0" i="0" sz="14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0" marL="1143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Char char="•"/>
            </a:pPr>
            <a:r>
              <a:rPr b="0" i="0" lang="en-US" sz="13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Does not own:</a:t>
            </a: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chunk generation (E2), ABR selection (E3), buffer management (E4)</a:t>
            </a:r>
            <a:endParaRPr b="0" i="0" sz="14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10"/>
          <p:cNvSpPr txBox="1"/>
          <p:nvPr/>
        </p:nvSpPr>
        <p:spPr>
          <a:xfrm>
            <a:off x="4617720" y="1280160"/>
            <a:ext cx="4224528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5723"/>
              </a:buClr>
              <a:buSzPts val="1450"/>
              <a:buFont typeface="Times New Roman"/>
              <a:buNone/>
            </a:pPr>
            <a:r>
              <a:rPr b="1" i="0" lang="en-US" sz="1450" u="none" cap="none" strike="noStrike">
                <a:solidFill>
                  <a:srgbClr val="3857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C. Inputs, outputs and state</a:t>
            </a:r>
            <a:endParaRPr b="0" i="0" sz="14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0" marL="1143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Char char="•"/>
            </a:pPr>
            <a:r>
              <a:rPr b="0" i="0" lang="en-US" sz="13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</a:t>
            </a: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bandwidth trace, chunk request, TCP connection request, start/stop</a:t>
            </a:r>
            <a:endParaRPr b="0" i="0" sz="14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0" marL="1143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Char char="•"/>
            </a:pPr>
            <a:r>
              <a:rPr b="0" i="0" lang="en-US" sz="13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</a:t>
            </a: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current rate condition, chunk to client, transfer status, error/timeout info</a:t>
            </a:r>
            <a:endParaRPr b="0" i="0" sz="14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0" marL="1143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Char char="•"/>
            </a:pPr>
            <a:r>
              <a:rPr b="0" i="0" lang="en-US" sz="13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State:</a:t>
            </a: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bandwidth value, trace position, active connection</a:t>
            </a:r>
            <a:endParaRPr b="0" i="0" sz="13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385723"/>
              </a:buClr>
              <a:buSzPts val="1450"/>
              <a:buFont typeface="Times New Roman"/>
              <a:buNone/>
            </a:pPr>
            <a:r>
              <a:rPr b="1" i="0" lang="en-US" sz="1450" u="none" cap="none" strike="noStrike">
                <a:solidFill>
                  <a:srgbClr val="3857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D. Core mechanism</a:t>
            </a:r>
            <a:endParaRPr b="0" i="0" sz="14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0" marL="1143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Char char="•"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Trace playback: set allowed speed per time step and slow sending to match</a:t>
            </a:r>
            <a:endParaRPr b="0" i="0" sz="14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0" marL="1143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Char char="•"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Request/reply over sockets with timeout and retry</a:t>
            </a:r>
            <a:endParaRPr b="0" i="0" sz="13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385723"/>
              </a:buClr>
              <a:buSzPts val="1450"/>
              <a:buFont typeface="Times New Roman"/>
              <a:buNone/>
            </a:pPr>
            <a:r>
              <a:rPr b="1" i="0" lang="en-US" sz="1450" u="none" cap="none" strike="noStrike">
                <a:solidFill>
                  <a:srgbClr val="3857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 KPIs</a:t>
            </a:r>
            <a:endParaRPr b="0" i="0" sz="14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0" marL="1143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Char char="•"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Chunk delivery success ≥ 99%</a:t>
            </a:r>
            <a:endParaRPr b="0" i="0" sz="14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0" marL="1143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Char char="•"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Bitrate adjustment within 3 chunks</a:t>
            </a:r>
            <a:endParaRPr b="0" i="0" sz="14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0" marL="1143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Char char="•"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Recovery rate ≥ 95%; valid traces load 100%</a:t>
            </a:r>
            <a:endParaRPr b="0" i="0" sz="14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10"/>
          <p:cNvSpPr txBox="1"/>
          <p:nvPr>
            <p:ph idx="4294967295" type="sldNum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900" u="none" cap="none" strike="noStrike">
              <a:solidFill>
                <a:srgbClr val="7F7F7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1"/>
          <p:cNvSpPr txBox="1"/>
          <p:nvPr>
            <p:ph type="title"/>
          </p:nvPr>
        </p:nvSpPr>
        <p:spPr>
          <a:xfrm>
            <a:off x="301752" y="274320"/>
            <a:ext cx="6675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1"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Engine 02: Segmentation &amp; Chunk Delivery</a:t>
            </a:r>
            <a:endParaRPr sz="2600"/>
          </a:p>
        </p:txBody>
      </p:sp>
      <p:sp>
        <p:nvSpPr>
          <p:cNvPr id="113" name="Google Shape;113;p11"/>
          <p:cNvSpPr txBox="1"/>
          <p:nvPr/>
        </p:nvSpPr>
        <p:spPr>
          <a:xfrm>
            <a:off x="301752" y="960120"/>
            <a:ext cx="8503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r>
              <a:rPr b="0" i="1" lang="en-US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Owner: Renuka Kagadal (01FE24BCI119)   |   Requirements: FR-1, FR-3, FR-4</a:t>
            </a:r>
            <a:endParaRPr b="0"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11"/>
          <p:cNvSpPr txBox="1"/>
          <p:nvPr/>
        </p:nvSpPr>
        <p:spPr>
          <a:xfrm>
            <a:off x="301752" y="1280160"/>
            <a:ext cx="41148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5723"/>
              </a:buClr>
              <a:buSzPts val="1400"/>
              <a:buFont typeface="Times New Roman"/>
              <a:buNone/>
            </a:pPr>
            <a:r>
              <a:rPr b="1" i="0" lang="en-US" sz="1400" u="none" cap="none" strike="noStrike">
                <a:solidFill>
                  <a:srgbClr val="3857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 Purpose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0" marL="1143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Times New Roman"/>
              <a:buChar char="•"/>
            </a:pPr>
            <a:r>
              <a:rPr b="0" i="0" lang="en-US" sz="12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Prepares video for adaptive streaming by dividing it into small chunks with multiple quality versions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0" marL="1143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Times New Roman"/>
              <a:buChar char="•"/>
            </a:pPr>
            <a:r>
              <a:rPr b="0" i="0" lang="en-US" sz="12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Maintains chunk number, quality, bitrate, duration and size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0" marL="1143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Times New Roman"/>
              <a:buChar char="•"/>
            </a:pPr>
            <a:r>
              <a:rPr b="0" i="0" lang="en-US" sz="12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the requested chunk to the streaming system</a:t>
            </a:r>
            <a:endParaRPr b="0" i="0" sz="12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385723"/>
              </a:buClr>
              <a:buSzPts val="1400"/>
              <a:buFont typeface="Times New Roman"/>
              <a:buNone/>
            </a:pPr>
            <a:r>
              <a:rPr b="1" i="0" lang="en-US" sz="1400" u="none" cap="none" strike="noStrike">
                <a:solidFill>
                  <a:srgbClr val="3857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 Responsibility and boundary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0" marL="1143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Times New Roman"/>
              <a:buChar char="•"/>
            </a:pPr>
            <a:r>
              <a:rPr b="0" i="0" lang="en-US" sz="12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 and manage video chunks for streaming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0" marL="1143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Times New Roman"/>
              <a:buChar char="•"/>
            </a:pPr>
            <a:r>
              <a:rPr b="0" i="0" lang="en-US" sz="12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Owns: segmentation, quality/bitrate versions, chunk metadata, chunk identification, chunk retrieval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11"/>
          <p:cNvSpPr txBox="1"/>
          <p:nvPr/>
        </p:nvSpPr>
        <p:spPr>
          <a:xfrm>
            <a:off x="4617720" y="1280160"/>
            <a:ext cx="4224528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5723"/>
              </a:buClr>
              <a:buSzPts val="1400"/>
              <a:buFont typeface="Times New Roman"/>
              <a:buNone/>
            </a:pPr>
            <a:r>
              <a:rPr b="1" i="0" lang="en-US" sz="1400" u="none" cap="none" strike="noStrike">
                <a:solidFill>
                  <a:srgbClr val="3857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C. Inputs, outputs and state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0" marL="1143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Times New Roman"/>
              <a:buChar char="•"/>
            </a:pPr>
            <a:r>
              <a:rPr b="0" i="0" lang="en-US" sz="12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In: video file, quality levels, chunk duration, chunk request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0" marL="1143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Times New Roman"/>
              <a:buChar char="•"/>
            </a:pPr>
            <a:r>
              <a:rPr b="0" i="0" lang="en-US" sz="12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Out: required chunk and its metadata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0" marL="1143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Times New Roman"/>
              <a:buChar char="•"/>
            </a:pPr>
            <a:r>
              <a:rPr b="0" i="0" lang="en-US" sz="12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State: chunk files, number, quality, bitrate, duration, size</a:t>
            </a:r>
            <a:endParaRPr b="0" i="0" sz="12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385723"/>
              </a:buClr>
              <a:buSzPts val="1400"/>
              <a:buFont typeface="Times New Roman"/>
              <a:buNone/>
            </a:pPr>
            <a:r>
              <a:rPr b="1" i="0" lang="en-US" sz="1400" u="none" cap="none" strike="noStrike">
                <a:solidFill>
                  <a:srgbClr val="3857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D. Core mechanism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0" marL="1143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Times New Roman"/>
              <a:buChar char="•"/>
            </a:pPr>
            <a:r>
              <a:rPr b="0" i="0" lang="en-US" sz="12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Fixed-duration segmentation (FR-01)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0" marL="1143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Times New Roman"/>
              <a:buChar char="•"/>
            </a:pPr>
            <a:r>
              <a:rPr b="0" i="0" lang="en-US" sz="12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Multi-quality / bitrate generation (FR-01)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0" marL="1143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Times New Roman"/>
              <a:buChar char="•"/>
            </a:pPr>
            <a:r>
              <a:rPr b="0" i="0" lang="en-US" sz="12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Chunk metadata management (FR-04)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0" marL="1143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Times New Roman"/>
              <a:buChar char="•"/>
            </a:pPr>
            <a:r>
              <a:rPr b="0" i="0" lang="en-US" sz="12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Chunk lookup and retrieval (FR-03)</a:t>
            </a:r>
            <a:endParaRPr b="0" i="0" sz="12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385723"/>
              </a:buClr>
              <a:buSzPts val="1400"/>
              <a:buFont typeface="Times New Roman"/>
              <a:buNone/>
            </a:pPr>
            <a:r>
              <a:rPr b="1" i="0" lang="en-US" sz="1400" u="none" cap="none" strike="noStrike">
                <a:solidFill>
                  <a:srgbClr val="3857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 Failure handling and KPIs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0" marL="1143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Times New Roman"/>
              <a:buChar char="•"/>
            </a:pPr>
            <a:r>
              <a:rPr b="0" i="0" lang="en-US" sz="12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E1 transfer failure: return error, allow retry; success ≥ 95%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0" marL="1143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Times New Roman"/>
              <a:buChar char="•"/>
            </a:pPr>
            <a:r>
              <a:rPr b="0" i="0" lang="en-US" sz="12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Missing or invalid chunk: detect and report; ≥ 99% available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0" marL="1143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Times New Roman"/>
              <a:buChar char="•"/>
            </a:pPr>
            <a:r>
              <a:rPr b="0" i="0" lang="en-US" sz="12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Quality unavailable: nearest quality; valid quality delivered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11"/>
          <p:cNvSpPr txBox="1"/>
          <p:nvPr>
            <p:ph idx="4294967295" type="sldNum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900" u="none" cap="none" strike="noStrike">
              <a:solidFill>
                <a:srgbClr val="7F7F7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h4451f45ef47a0c1b_0_1"/>
          <p:cNvSpPr txBox="1"/>
          <p:nvPr>
            <p:ph type="title"/>
          </p:nvPr>
        </p:nvSpPr>
        <p:spPr>
          <a:xfrm>
            <a:off x="301752" y="274320"/>
            <a:ext cx="6675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1"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Engine 0</a:t>
            </a:r>
            <a:r>
              <a:rPr lang="en-US" sz="2300"/>
              <a:t>3</a:t>
            </a:r>
            <a:r>
              <a:rPr b="1"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Throughput Estimation &amp; ABR Decision  </a:t>
            </a:r>
            <a:endParaRPr sz="2300"/>
          </a:p>
        </p:txBody>
      </p:sp>
      <p:sp>
        <p:nvSpPr>
          <p:cNvPr id="123" name="Google Shape;123;h4451f45ef47a0c1b_0_1"/>
          <p:cNvSpPr txBox="1"/>
          <p:nvPr/>
        </p:nvSpPr>
        <p:spPr>
          <a:xfrm>
            <a:off x="301752" y="960120"/>
            <a:ext cx="8503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r>
              <a:rPr b="0" i="1" lang="en-US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Owner:</a:t>
            </a:r>
            <a:r>
              <a:rPr i="1" lang="en-US" sz="1100">
                <a:latin typeface="Times New Roman"/>
                <a:ea typeface="Times New Roman"/>
                <a:cs typeface="Times New Roman"/>
                <a:sym typeface="Times New Roman"/>
              </a:rPr>
              <a:t>Akshay Bhat </a:t>
            </a:r>
            <a:r>
              <a:rPr b="0" i="1" lang="en-US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(01FE24BC</a:t>
            </a:r>
            <a:r>
              <a:rPr i="1" lang="en-US" sz="1100">
                <a:latin typeface="Times New Roman"/>
                <a:ea typeface="Times New Roman"/>
                <a:cs typeface="Times New Roman"/>
                <a:sym typeface="Times New Roman"/>
              </a:rPr>
              <a:t>I024</a:t>
            </a:r>
            <a:r>
              <a:rPr b="0" i="1" lang="en-US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  |   Requirements:FR-04, FR-05, FR-06, FR-07, FR-08, NFR-01, NFR-05, NFR-07  </a:t>
            </a:r>
            <a:endParaRPr b="0"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h4451f45ef47a0c1b_0_1"/>
          <p:cNvSpPr txBox="1"/>
          <p:nvPr/>
        </p:nvSpPr>
        <p:spPr>
          <a:xfrm>
            <a:off x="301752" y="1280160"/>
            <a:ext cx="4114800" cy="35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5723"/>
              </a:buClr>
              <a:buSzPts val="1400"/>
              <a:buFont typeface="Times New Roman"/>
              <a:buNone/>
            </a:pPr>
            <a:r>
              <a:rPr b="1" i="0" lang="en-US" sz="1300" u="none" cap="none" strike="noStrike">
                <a:solidFill>
                  <a:srgbClr val="3857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 Purpose</a:t>
            </a:r>
            <a:endParaRPr b="0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latin typeface="Times New Roman"/>
                <a:ea typeface="Times New Roman"/>
                <a:cs typeface="Times New Roman"/>
                <a:sym typeface="Times New Roman"/>
              </a:rPr>
              <a:t>• Estimates network throughput from video chunk</a:t>
            </a:r>
            <a:endParaRPr sz="11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latin typeface="Times New Roman"/>
                <a:ea typeface="Times New Roman"/>
                <a:cs typeface="Times New Roman"/>
                <a:sym typeface="Times New Roman"/>
              </a:rPr>
              <a:t>download behaviour</a:t>
            </a:r>
            <a:endParaRPr sz="11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latin typeface="Times New Roman"/>
                <a:ea typeface="Times New Roman"/>
                <a:cs typeface="Times New Roman"/>
                <a:sym typeface="Times New Roman"/>
              </a:rPr>
              <a:t>• Uses throughput and playback-buffer information to make adaptive bitrate decisions</a:t>
            </a:r>
            <a:endParaRPr sz="11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latin typeface="Times New Roman"/>
                <a:ea typeface="Times New Roman"/>
                <a:cs typeface="Times New Roman"/>
                <a:sym typeface="Times New Roman"/>
              </a:rPr>
              <a:t>• Selects an appropriate quality/bitrate for the next video chunk</a:t>
            </a:r>
            <a:endParaRPr sz="11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latin typeface="Times New Roman"/>
                <a:ea typeface="Times New Roman"/>
                <a:cs typeface="Times New Roman"/>
                <a:sym typeface="Times New Roman"/>
              </a:rPr>
              <a:t>• Helps balance video quality and continuous playback under changing network conditions.</a:t>
            </a:r>
            <a:endParaRPr sz="11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385723"/>
              </a:buClr>
              <a:buSzPts val="1400"/>
              <a:buFont typeface="Times New Roman"/>
              <a:buNone/>
            </a:pPr>
            <a:r>
              <a:rPr b="1" i="0" lang="en-US" sz="1300" u="none" cap="none" strike="noStrike">
                <a:solidFill>
                  <a:srgbClr val="3857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 Responsibility and boundary</a:t>
            </a:r>
            <a:endParaRPr b="0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• 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Estimates current network throughput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Runs the selected ABR algorithm for quality selection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Owns throughput measurements, estimates and ABR decision state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Does </a:t>
            </a:r>
            <a:r>
              <a:rPr b="1"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own network communication, video segmentation, or playback-buffer management </a:t>
            </a:r>
            <a:endParaRPr sz="12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h4451f45ef47a0c1b_0_1"/>
          <p:cNvSpPr txBox="1"/>
          <p:nvPr/>
        </p:nvSpPr>
        <p:spPr>
          <a:xfrm>
            <a:off x="4617720" y="1280160"/>
            <a:ext cx="4224600" cy="35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5723"/>
              </a:buClr>
              <a:buSzPts val="1400"/>
              <a:buFont typeface="Times New Roman"/>
              <a:buNone/>
            </a:pPr>
            <a:r>
              <a:rPr b="1" i="0" lang="en-US" sz="1300" u="none" cap="none" strike="noStrike">
                <a:solidFill>
                  <a:srgbClr val="3857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Inputs, outputs and state</a:t>
            </a:r>
            <a:endParaRPr b="1" sz="1300">
              <a:solidFill>
                <a:srgbClr val="38572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</a:t>
            </a:r>
            <a:r>
              <a:rPr b="1"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In:</a:t>
            </a:r>
            <a:r>
              <a:rPr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Chunk download time, chunk size, current buffer level, previous quality/throughput</a:t>
            </a:r>
            <a:endParaRPr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</a:t>
            </a:r>
            <a:r>
              <a:rPr b="1"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Out:</a:t>
            </a:r>
            <a:r>
              <a:rPr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Estimated throughput and selected bitrate/quality for the next chunk</a:t>
            </a:r>
            <a:endParaRPr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</a:t>
            </a:r>
            <a:r>
              <a:rPr b="1"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State:</a:t>
            </a:r>
            <a:r>
              <a:rPr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Recent throughput measurements, current throughput estimate, selected quality and ABR configuration </a:t>
            </a:r>
            <a:endParaRPr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385723"/>
              </a:buClr>
              <a:buSzPts val="1400"/>
              <a:buFont typeface="Times New Roman"/>
              <a:buNone/>
            </a:pPr>
            <a:r>
              <a:rPr b="1" i="0" lang="en-US" sz="1300" u="none" cap="none" strike="noStrike">
                <a:solidFill>
                  <a:srgbClr val="3857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D. Core mechanism</a:t>
            </a:r>
            <a:endParaRPr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r>
              <a:rPr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Download-time based throughput estimation</a:t>
            </a:r>
            <a:endParaRPr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Throughput smoothing using </a:t>
            </a:r>
            <a:r>
              <a:rPr b="1"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EWMA</a:t>
            </a:r>
            <a:endParaRPr b="1"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ABR quality selection using throughput and buffer level</a:t>
            </a:r>
            <a:endParaRPr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Quality adaptation based on changing network conditions </a:t>
            </a:r>
            <a:endParaRPr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385723"/>
              </a:buClr>
              <a:buSzPts val="1400"/>
              <a:buFont typeface="Times New Roman"/>
              <a:buNone/>
            </a:pPr>
            <a:r>
              <a:rPr b="1" i="0" lang="en-US" sz="1300" u="none" cap="none" strike="noStrike">
                <a:solidFill>
                  <a:srgbClr val="3857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 Failure handling and KPIs</a:t>
            </a:r>
            <a:endParaRPr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</a:t>
            </a:r>
            <a:r>
              <a:rPr b="1"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Noisy/unstable throughput:</a:t>
            </a:r>
            <a: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 smoothed throughput for stable decisions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</a:t>
            </a:r>
            <a:r>
              <a:rPr b="1"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 buffer / bandwidth drop:</a:t>
            </a:r>
            <a: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select a safer lower bitrate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</a:t>
            </a:r>
            <a:r>
              <a:rPr b="1"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Invalid/missing measurement:</a:t>
            </a:r>
            <a: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 the latest valid estimate or conservative quality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</a:t>
            </a:r>
            <a:r>
              <a:rPr b="1"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KPI:</a:t>
            </a:r>
            <a: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Throughput estimation error ≤ </a:t>
            </a:r>
            <a:r>
              <a:rPr b="1"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20%</a:t>
            </a:r>
            <a:endParaRPr b="1"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</a:t>
            </a:r>
            <a:r>
              <a:rPr b="1"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KPI:</a:t>
            </a:r>
            <a: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ABR decision ≤ </a:t>
            </a:r>
            <a:r>
              <a:rPr b="1"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500 ms</a:t>
            </a:r>
            <a:endParaRPr b="1"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</a:t>
            </a:r>
            <a:r>
              <a:rPr b="1"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KPI:</a:t>
            </a:r>
            <a: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Quality adjustment within </a:t>
            </a:r>
            <a:r>
              <a:rPr b="1"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chunks</a:t>
            </a:r>
            <a: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after significant network change </a:t>
            </a:r>
            <a:endParaRPr sz="11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h4451f45ef47a0c1b_0_1"/>
          <p:cNvSpPr txBox="1"/>
          <p:nvPr>
            <p:ph idx="4294967295" type="sldNum"/>
          </p:nvPr>
        </p:nvSpPr>
        <p:spPr>
          <a:xfrm>
            <a:off x="8412480" y="4846320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900" u="none" cap="none" strike="noStrike">
              <a:solidFill>
                <a:srgbClr val="7F7F7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3"/>
          <p:cNvSpPr txBox="1"/>
          <p:nvPr>
            <p:ph type="title"/>
          </p:nvPr>
        </p:nvSpPr>
        <p:spPr>
          <a:xfrm>
            <a:off x="301752" y="274320"/>
            <a:ext cx="6675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1"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Engine 04: Playback Buffer &amp; Cache</a:t>
            </a:r>
            <a:endParaRPr sz="2600"/>
          </a:p>
        </p:txBody>
      </p:sp>
      <p:sp>
        <p:nvSpPr>
          <p:cNvPr id="133" name="Google Shape;133;p13"/>
          <p:cNvSpPr txBox="1"/>
          <p:nvPr/>
        </p:nvSpPr>
        <p:spPr>
          <a:xfrm>
            <a:off x="301752" y="960120"/>
            <a:ext cx="8503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r>
              <a:rPr b="0" i="1" lang="en-US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Owner: B Bhagyashree (01FE24BCI104)   |   Requirements: C4 — FR-09 to FR-14, NFR-08, NFR-09</a:t>
            </a:r>
            <a:endParaRPr b="0"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p13"/>
          <p:cNvSpPr txBox="1"/>
          <p:nvPr/>
        </p:nvSpPr>
        <p:spPr>
          <a:xfrm>
            <a:off x="301752" y="1280160"/>
            <a:ext cx="41148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5723"/>
              </a:buClr>
              <a:buSzPts val="1300"/>
              <a:buFont typeface="Times New Roman"/>
              <a:buNone/>
            </a:pPr>
            <a:r>
              <a:rPr b="1" i="0" lang="en-US" sz="1300" u="none" cap="none" strike="noStrike">
                <a:solidFill>
                  <a:srgbClr val="3857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 Purpose</a:t>
            </a:r>
            <a:endParaRPr b="0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385723"/>
              </a:buClr>
              <a:buSzPts val="1300"/>
              <a:buFont typeface="Times New Roman"/>
              <a:buNone/>
            </a:pPr>
            <a:r>
              <a:rPr b="1" i="0" lang="en-US" sz="1300" u="none" cap="none" strike="noStrike">
                <a:solidFill>
                  <a:srgbClr val="3857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 Responsibility and boundary</a:t>
            </a:r>
            <a:endParaRPr b="0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0" marL="1143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Times New Roman"/>
              <a:buChar char="•"/>
            </a:pPr>
            <a:r>
              <a:rPr b="0" i="0" lang="en-US" sz="11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Keeps playback continuous and measurable: buffer, background downloads, chunk cache, QoE results in a database</a:t>
            </a:r>
            <a:endParaRPr b="0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0" marL="1143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Times New Roman"/>
              <a:buChar char="•"/>
            </a:pPr>
            <a:r>
              <a:rPr b="0" i="0" lang="en-US" sz="11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Owns: ordered buffer and level tracking; playback loop and underrun detection; download scheduling; cache with size limit; metrics, QoE, results storage</a:t>
            </a:r>
            <a:endParaRPr b="0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0" marL="1143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Times New Roman"/>
              <a:buChar char="•"/>
            </a:pPr>
            <a:r>
              <a:rPr b="0" i="0" lang="en-US" sz="11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Does not own: segmentation (E2); trace, TCP, retries (E1); throughput and bitrate selection (E3)</a:t>
            </a:r>
            <a:endParaRPr b="0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385723"/>
              </a:buClr>
              <a:buSzPts val="1300"/>
              <a:buFont typeface="Times New Roman"/>
              <a:buNone/>
            </a:pPr>
            <a:r>
              <a:rPr b="1" i="0" lang="en-US" sz="1300" u="none" cap="none" strike="noStrike">
                <a:solidFill>
                  <a:srgbClr val="3857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C. Inputs, outputs and state</a:t>
            </a:r>
            <a:endParaRPr b="0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0" marL="1143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Times New Roman"/>
              <a:buChar char="•"/>
            </a:pPr>
            <a:r>
              <a:rPr b="0" i="0" lang="en-US" sz="11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In: chunks from E1, next quality from E3, playback rate</a:t>
            </a:r>
            <a:endParaRPr b="0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0" marL="1143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Times New Roman"/>
              <a:buChar char="•"/>
            </a:pPr>
            <a:r>
              <a:rPr b="0" i="0" lang="en-US" sz="11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Out: buffer level for E3, next-chunk request, stall events, QoE results</a:t>
            </a:r>
            <a:endParaRPr b="0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0" marL="1143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Times New Roman"/>
              <a:buChar char="•"/>
            </a:pPr>
            <a:r>
              <a:rPr b="0" i="0" lang="en-US" sz="11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State: buffer (max 30 s), stall timer, cache, per-chunk logs</a:t>
            </a:r>
            <a:endParaRPr b="0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13"/>
          <p:cNvSpPr txBox="1"/>
          <p:nvPr/>
        </p:nvSpPr>
        <p:spPr>
          <a:xfrm>
            <a:off x="4617720" y="1280160"/>
            <a:ext cx="4224528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5723"/>
              </a:buClr>
              <a:buSzPts val="1300"/>
              <a:buFont typeface="Times New Roman"/>
              <a:buNone/>
            </a:pPr>
            <a:r>
              <a:rPr b="1" i="0" lang="en-US" sz="1300" u="none" cap="none" strike="noStrike">
                <a:solidFill>
                  <a:srgbClr val="3857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D. Core mechanism</a:t>
            </a:r>
            <a:endParaRPr b="0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0" marL="1143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Times New Roman"/>
              <a:buChar char="•"/>
            </a:pPr>
            <a:r>
              <a:rPr b="0" i="0" lang="en-US" sz="11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Ordered buffer queue with limits (FR-09)</a:t>
            </a:r>
            <a:endParaRPr b="0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0" marL="1143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Times New Roman"/>
              <a:buChar char="•"/>
            </a:pPr>
            <a:r>
              <a:rPr b="0" i="0" lang="en-US" sz="11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Producer–consumer threads with a lock (FR-10)</a:t>
            </a:r>
            <a:endParaRPr b="0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0" marL="1143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Times New Roman"/>
              <a:buChar char="•"/>
            </a:pPr>
            <a:r>
              <a:rPr b="0" i="0" lang="en-US" sz="11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Playback loop with underrun detection (FR-11)</a:t>
            </a:r>
            <a:endParaRPr b="0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0" marL="1143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Times New Roman"/>
              <a:buChar char="•"/>
            </a:pPr>
            <a:r>
              <a:rPr b="0" i="0" lang="en-US" sz="11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Chunk cache, least-recently-used removal</a:t>
            </a:r>
            <a:endParaRPr b="0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0" marL="1143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Times New Roman"/>
              <a:buChar char="•"/>
            </a:pPr>
            <a:r>
              <a:rPr b="0" i="0" lang="en-US" sz="11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Per-chunk logging with field check (FR-12, NFR-09)</a:t>
            </a:r>
            <a:endParaRPr b="0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0" marL="1143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Times New Roman"/>
              <a:buChar char="•"/>
            </a:pPr>
            <a:r>
              <a:rPr b="0" i="0" lang="en-US" sz="11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QoE calculation and result storage (FR-13, FR-14, NFR-08)</a:t>
            </a:r>
            <a:endParaRPr b="0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385723"/>
              </a:buClr>
              <a:buSzPts val="1300"/>
              <a:buFont typeface="Times New Roman"/>
              <a:buNone/>
            </a:pPr>
            <a:r>
              <a:rPr b="1" i="0" lang="en-US" sz="1300" u="none" cap="none" strike="noStrike">
                <a:solidFill>
                  <a:srgbClr val="3857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 KPIs</a:t>
            </a:r>
            <a:endParaRPr b="0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0" marL="1143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Times New Roman"/>
              <a:buChar char="•"/>
            </a:pPr>
            <a:r>
              <a:rPr b="0" i="0" lang="en-US" sz="11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Rebuffering ratio ≤ 5%; buffer ≤ 30 s</a:t>
            </a:r>
            <a:endParaRPr b="0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0" marL="1143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Times New Roman"/>
              <a:buChar char="•"/>
            </a:pPr>
            <a:r>
              <a:rPr b="0" i="0" lang="en-US" sz="11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≥ 95% sessions with no crash or deadlock</a:t>
            </a:r>
            <a:endParaRPr b="0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0" marL="1143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Times New Roman"/>
              <a:buChar char="•"/>
            </a:pPr>
            <a:r>
              <a:rPr b="0" i="0" lang="en-US" sz="11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≥ 99% events logged; QoE variation ≤ ±5%</a:t>
            </a:r>
            <a:endParaRPr b="0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13"/>
          <p:cNvSpPr txBox="1"/>
          <p:nvPr>
            <p:ph idx="4294967295" type="sldNum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900" u="none" cap="none" strike="noStrike">
              <a:solidFill>
                <a:srgbClr val="7F7F7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7" name="Google Shape;13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2475" y="304800"/>
            <a:ext cx="910864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h671dbda95eb6d62d_0_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6" name="Google Shape;146;h671dbda95eb6d62d_0_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90875" y="2338852"/>
            <a:ext cx="3981682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h671dbda95eb6d62d_0_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27432"/>
            <a:ext cx="9144000" cy="50886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2026-10-06T06:12:52Z</dcterms:created>
  <dc:creator>PptxGenJS</dc:creator>
</cp:coreProperties>
</file>